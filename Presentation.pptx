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Confusion Matrix Counts (Sample 100)</c:v>
                </c:pt>
              </c:strCache>
            </c:strRef>
          </c:tx>
          <c:spPr>
            <a:solidFill>
              <a:srgbClr val="4FA3FF"/>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True Positive</c:v>
                </c:pt>
                <c:pt idx="1">
                  <c:v>False Negative</c:v>
                </c:pt>
                <c:pt idx="2">
                  <c:v>False Positive</c:v>
                </c:pt>
                <c:pt idx="3">
                  <c:v>True Negative</c:v>
                </c:pt>
              </c:strCache>
            </c:strRef>
          </c:cat>
          <c:val>
            <c:numRef>
              <c:f>Sheet1!$B$2:$B$5</c:f>
              <c:numCache>
                <c:formatCode>General</c:formatCode>
                <c:ptCount val="4"/>
                <c:pt idx="0">
                  <c:v>64</c:v>
                </c:pt>
                <c:pt idx="1">
                  <c:v>6</c:v>
                </c:pt>
                <c:pt idx="2">
                  <c:v>12</c:v>
                </c:pt>
                <c:pt idx="3">
                  <c:v>18</c:v>
                </c:pt>
              </c:numCache>
            </c:numRef>
          </c:val>
          <c:extLst>
            <c:ext xmlns:c16="http://schemas.microsoft.com/office/drawing/2014/chart" uri="{C3380CC4-5D6E-409C-BE32-E72D297353CC}">
              <c16:uniqueId val="{00000000-F7DA-41D4-BBB9-90310B6468E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6B3B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6B3B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2943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loan processing is slow and prone to inconsistencies, leading to significant operational bottlenecks. Automating this process can drastically improve customer experience by providing faster decisions. It also helps mitigate risk by reducing human bias and ensuring consistent application of credit policies.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bar chart visualizes the confusion matrix, showing the breakdown of our model's predictions. We correctly identified 64 approved loans and 18 rejected loans. The 6 false negatives represent eligible applicants who were incorrectly rejected, while 12 false positives are risky loans that were mistakenly approved. This provides a clear picture of where the model performs well and where there's room for improvement.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successfully developed and demonstrated a robust machine learning pipeline for automated loan approval. Moving forward, we plan to enhance model performance through hyperparameter tuning and by benchmarking against other advanced algorithms. The ultimate goal is to deploy this system into a user-friendly application for real-time use by loan officers.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457200" y="2834640"/>
            <a:ext cx="548640" cy="109728"/>
          </a:xfrm>
          <a:prstGeom prst="rect">
            <a:avLst/>
          </a:prstGeom>
          <a:solidFill>
            <a:srgbClr val="4FA3FF"/>
          </a:solidFill>
          <a:ln w="12700">
            <a:solidFill>
              <a:srgbClr val="4FA3FF"/>
            </a:solidFill>
            <a:prstDash val="solid"/>
          </a:ln>
        </p:spPr>
      </p:sp>
      <p:sp>
        <p:nvSpPr>
          <p:cNvPr id="3" name="Text 1"/>
          <p:cNvSpPr/>
          <p:nvPr/>
        </p:nvSpPr>
        <p:spPr>
          <a:xfrm>
            <a:off x="457200" y="3017520"/>
            <a:ext cx="11274552" cy="1645920"/>
          </a:xfrm>
          <a:prstGeom prst="rect">
            <a:avLst/>
          </a:prstGeom>
          <a:noFill/>
          <a:ln/>
        </p:spPr>
        <p:txBody>
          <a:bodyPr wrap="square" rtlCol="0" anchor="ctr"/>
          <a:lstStyle/>
          <a:p>
            <a:pPr marL="0" indent="0">
              <a:buNone/>
            </a:pPr>
            <a:r>
              <a:rPr lang="en-US" sz="5400" b="1" dirty="0">
                <a:solidFill>
                  <a:srgbClr val="F2F5F8"/>
                </a:solidFill>
                <a:latin typeface="Inter" pitchFamily="34" charset="0"/>
                <a:ea typeface="Inter" pitchFamily="34" charset="-122"/>
                <a:cs typeface="Inter" pitchFamily="34" charset="-120"/>
              </a:rPr>
              <a:t>Bank Loan Approval Prediction System</a:t>
            </a:r>
            <a:endParaRPr lang="en-US" sz="5400" dirty="0"/>
          </a:p>
        </p:txBody>
      </p:sp>
      <p:sp>
        <p:nvSpPr>
          <p:cNvPr id="4" name="Text 2"/>
          <p:cNvSpPr/>
          <p:nvPr/>
        </p:nvSpPr>
        <p:spPr>
          <a:xfrm>
            <a:off x="457200" y="4663440"/>
            <a:ext cx="11274552" cy="731520"/>
          </a:xfrm>
          <a:prstGeom prst="rect">
            <a:avLst/>
          </a:prstGeom>
          <a:noFill/>
          <a:ln/>
        </p:spPr>
        <p:txBody>
          <a:bodyPr wrap="square" rtlCol="0" anchor="ctr"/>
          <a:lstStyle/>
          <a:p>
            <a:pPr marL="0" indent="0">
              <a:buNone/>
            </a:pPr>
            <a:r>
              <a:rPr lang="en-US" sz="2200" dirty="0">
                <a:solidFill>
                  <a:srgbClr val="A6B3BF"/>
                </a:solidFill>
                <a:latin typeface="Inter" pitchFamily="34" charset="0"/>
                <a:ea typeface="Inter" pitchFamily="34" charset="-122"/>
                <a:cs typeface="Inter" pitchFamily="34" charset="-120"/>
              </a:rPr>
              <a:t>An End-to-End Machine Learning Pipeline for Automated Credit Decisioning</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11091672" y="6446520"/>
            <a:ext cx="914400" cy="274320"/>
          </a:xfrm>
          <a:prstGeom prst="rect">
            <a:avLst/>
          </a:prstGeom>
          <a:noFill/>
          <a:ln/>
        </p:spPr>
        <p:txBody>
          <a:bodyPr wrap="square" rtlCol="0" anchor="ctr"/>
          <a:lstStyle/>
          <a:p>
            <a:pPr marL="0" indent="0" algn="r">
              <a:buNone/>
            </a:pPr>
            <a:r>
              <a:rPr lang="en-US" sz="900" dirty="0">
                <a:solidFill>
                  <a:srgbClr val="A6B3BF"/>
                </a:solidFill>
                <a:latin typeface="Inter" pitchFamily="34" charset="0"/>
                <a:ea typeface="Inter" pitchFamily="34" charset="-122"/>
                <a:cs typeface="Inter" pitchFamily="34" charset="-120"/>
              </a:rPr>
              <a:t>2 / 9</a:t>
            </a:r>
            <a:endParaRPr lang="en-US" sz="900" dirty="0"/>
          </a:p>
        </p:txBody>
      </p:sp>
      <p:sp>
        <p:nvSpPr>
          <p:cNvPr id="4" name="Text 2"/>
          <p:cNvSpPr/>
          <p:nvPr/>
        </p:nvSpPr>
        <p:spPr>
          <a:xfrm>
            <a:off x="457200" y="457200"/>
            <a:ext cx="11274552" cy="822960"/>
          </a:xfrm>
          <a:prstGeom prst="rect">
            <a:avLst/>
          </a:prstGeom>
          <a:noFill/>
          <a:ln/>
        </p:spPr>
        <p:txBody>
          <a:bodyPr wrap="square" rtlCol="0" anchor="ctr"/>
          <a:lstStyle/>
          <a:p>
            <a:pPr marL="0" indent="0">
              <a:buNone/>
            </a:pPr>
            <a:r>
              <a:rPr lang="en-US" sz="3000" b="1" dirty="0">
                <a:solidFill>
                  <a:srgbClr val="F2F5F8"/>
                </a:solidFill>
                <a:latin typeface="Inter" pitchFamily="34" charset="0"/>
                <a:ea typeface="Inter" pitchFamily="34" charset="-122"/>
                <a:cs typeface="Inter" pitchFamily="34" charset="-120"/>
              </a:rPr>
              <a:t>Why Automate Loan Approval?</a:t>
            </a:r>
            <a:endParaRPr lang="en-US" sz="3000" dirty="0"/>
          </a:p>
        </p:txBody>
      </p:sp>
      <p:sp>
        <p:nvSpPr>
          <p:cNvPr id="5" name="Shape 3"/>
          <p:cNvSpPr/>
          <p:nvPr/>
        </p:nvSpPr>
        <p:spPr>
          <a:xfrm>
            <a:off x="457200" y="1207008"/>
            <a:ext cx="548640" cy="73152"/>
          </a:xfrm>
          <a:prstGeom prst="rect">
            <a:avLst/>
          </a:prstGeom>
          <a:solidFill>
            <a:srgbClr val="4FA3FF"/>
          </a:solidFill>
          <a:ln w="12700">
            <a:solidFill>
              <a:srgbClr val="4FA3FF"/>
            </a:solidFill>
            <a:prstDash val="solid"/>
          </a:ln>
        </p:spPr>
      </p:sp>
      <p:sp>
        <p:nvSpPr>
          <p:cNvPr id="6" name="Text 4"/>
          <p:cNvSpPr/>
          <p:nvPr/>
        </p:nvSpPr>
        <p:spPr>
          <a:xfrm>
            <a:off x="548640" y="1554480"/>
            <a:ext cx="11091672" cy="4480560"/>
          </a:xfrm>
          <a:prstGeom prst="rect">
            <a:avLst/>
          </a:prstGeom>
          <a:noFill/>
          <a:ln/>
        </p:spPr>
        <p:txBody>
          <a:bodyPr wrap="square" rtlCol="0" anchor="t"/>
          <a:lstStyle/>
          <a:p>
            <a:pPr marL="342900" indent="-342900">
              <a:spcAft>
                <a:spcPts val="1200"/>
              </a:spcAft>
              <a:buSzPct val="100000"/>
              <a:buChar char="●"/>
            </a:pPr>
            <a:r>
              <a:rPr lang="en-US" sz="2200" dirty="0">
                <a:solidFill>
                  <a:srgbClr val="F2F5F8"/>
                </a:solidFill>
                <a:latin typeface="Inter" pitchFamily="34" charset="0"/>
                <a:ea typeface="Inter" pitchFamily="34" charset="-122"/>
                <a:cs typeface="Inter" pitchFamily="34" charset="-120"/>
              </a:rPr>
              <a:t>Financial institutions process thousands of applications daily; manual reviews create massive backlogs.</a:t>
            </a:r>
            <a:endParaRPr lang="en-US" sz="2200" dirty="0"/>
          </a:p>
          <a:p>
            <a:pPr marL="342900" indent="-342900">
              <a:spcAft>
                <a:spcPts val="1200"/>
              </a:spcAft>
              <a:buSzPct val="100000"/>
              <a:buChar char="●"/>
            </a:pPr>
            <a:r>
              <a:rPr lang="en-US" sz="2200" dirty="0">
                <a:solidFill>
                  <a:srgbClr val="F2F5F8"/>
                </a:solidFill>
                <a:latin typeface="Inter" pitchFamily="34" charset="0"/>
                <a:ea typeface="Inter" pitchFamily="34" charset="-122"/>
                <a:cs typeface="Inter" pitchFamily="34" charset="-120"/>
              </a:rPr>
              <a:t>Instantaneous or rapid decision-making drastically improves applicant retention and satisfaction.</a:t>
            </a:r>
            <a:endParaRPr lang="en-US" sz="2200" dirty="0"/>
          </a:p>
          <a:p>
            <a:pPr marL="342900" indent="-342900">
              <a:spcAft>
                <a:spcPts val="1200"/>
              </a:spcAft>
              <a:buSzPct val="100000"/>
              <a:buChar char="●"/>
            </a:pPr>
            <a:r>
              <a:rPr lang="en-US" sz="2200" dirty="0">
                <a:solidFill>
                  <a:srgbClr val="F2F5F8"/>
                </a:solidFill>
                <a:latin typeface="Inter" pitchFamily="34" charset="0"/>
                <a:ea typeface="Inter" pitchFamily="34" charset="-122"/>
                <a:cs typeface="Inter" pitchFamily="34" charset="-120"/>
              </a:rPr>
              <a:t>Standardized data-driven models reduce human bias, lower default rates, and ensure consistent regulatory compliance.</a:t>
            </a:r>
            <a:endParaRPr lang="en-US" sz="2200" dirty="0"/>
          </a:p>
          <a:p>
            <a:pPr marL="342900" indent="-342900">
              <a:spcAft>
                <a:spcPts val="1200"/>
              </a:spcAft>
              <a:buSzPct val="100000"/>
              <a:buChar char="●"/>
            </a:pPr>
            <a:r>
              <a:rPr lang="en-US" sz="2200" dirty="0">
                <a:solidFill>
                  <a:srgbClr val="F2F5F8"/>
                </a:solidFill>
                <a:latin typeface="Inter" pitchFamily="34" charset="0"/>
                <a:ea typeface="Inter" pitchFamily="34" charset="-122"/>
                <a:cs typeface="Inter" pitchFamily="34" charset="-120"/>
              </a:rPr>
              <a:t>Frees up human loan officers to focus on complex, high-value cases rather than repetitive entry checks.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11091672" y="6446520"/>
            <a:ext cx="914400" cy="274320"/>
          </a:xfrm>
          <a:prstGeom prst="rect">
            <a:avLst/>
          </a:prstGeom>
          <a:noFill/>
          <a:ln/>
        </p:spPr>
        <p:txBody>
          <a:bodyPr wrap="square" rtlCol="0" anchor="ctr"/>
          <a:lstStyle/>
          <a:p>
            <a:pPr marL="0" indent="0" algn="r">
              <a:buNone/>
            </a:pPr>
            <a:r>
              <a:rPr lang="en-US" sz="900" dirty="0">
                <a:solidFill>
                  <a:srgbClr val="A6B3BF"/>
                </a:solidFill>
                <a:latin typeface="Inter" pitchFamily="34" charset="0"/>
                <a:ea typeface="Inter" pitchFamily="34" charset="-122"/>
                <a:cs typeface="Inter" pitchFamily="34" charset="-120"/>
              </a:rPr>
              <a:t>3 / 9</a:t>
            </a:r>
            <a:endParaRPr lang="en-US" sz="900" dirty="0"/>
          </a:p>
        </p:txBody>
      </p:sp>
      <p:sp>
        <p:nvSpPr>
          <p:cNvPr id="4" name="Text 2"/>
          <p:cNvSpPr/>
          <p:nvPr/>
        </p:nvSpPr>
        <p:spPr>
          <a:xfrm>
            <a:off x="457200" y="457200"/>
            <a:ext cx="11274552" cy="822960"/>
          </a:xfrm>
          <a:prstGeom prst="rect">
            <a:avLst/>
          </a:prstGeom>
          <a:noFill/>
          <a:ln/>
        </p:spPr>
        <p:txBody>
          <a:bodyPr wrap="square" rtlCol="0" anchor="ctr"/>
          <a:lstStyle/>
          <a:p>
            <a:pPr marL="0" indent="0">
              <a:buNone/>
            </a:pPr>
            <a:r>
              <a:rPr lang="en-US" sz="3000" b="1" dirty="0">
                <a:solidFill>
                  <a:srgbClr val="F2F5F8"/>
                </a:solidFill>
                <a:latin typeface="Inter" pitchFamily="34" charset="0"/>
                <a:ea typeface="Inter" pitchFamily="34" charset="-122"/>
                <a:cs typeface="Inter" pitchFamily="34" charset="-120"/>
              </a:rPr>
              <a:t>Data Cleaning &amp; Preprocessing</a:t>
            </a:r>
            <a:endParaRPr lang="en-US" sz="3000" dirty="0"/>
          </a:p>
        </p:txBody>
      </p:sp>
      <p:sp>
        <p:nvSpPr>
          <p:cNvPr id="5" name="Shape 3"/>
          <p:cNvSpPr/>
          <p:nvPr/>
        </p:nvSpPr>
        <p:spPr>
          <a:xfrm>
            <a:off x="457200" y="1207008"/>
            <a:ext cx="548640" cy="73152"/>
          </a:xfrm>
          <a:prstGeom prst="rect">
            <a:avLst/>
          </a:prstGeom>
          <a:solidFill>
            <a:srgbClr val="4FA3FF"/>
          </a:solidFill>
          <a:ln w="12700">
            <a:solidFill>
              <a:srgbClr val="4FA3FF"/>
            </a:solidFill>
            <a:prstDash val="solid"/>
          </a:ln>
        </p:spPr>
      </p:sp>
      <p:sp>
        <p:nvSpPr>
          <p:cNvPr id="6" name="Shape 4"/>
          <p:cNvSpPr/>
          <p:nvPr/>
        </p:nvSpPr>
        <p:spPr>
          <a:xfrm>
            <a:off x="457200" y="1645920"/>
            <a:ext cx="2612898" cy="3840480"/>
          </a:xfrm>
          <a:prstGeom prst="roundRect">
            <a:avLst>
              <a:gd name="adj" fmla="val 3500"/>
            </a:avLst>
          </a:prstGeom>
          <a:solidFill>
            <a:srgbClr val="11253A"/>
          </a:solidFill>
          <a:ln w="12700">
            <a:solidFill>
              <a:srgbClr val="11253A"/>
            </a:solidFill>
            <a:prstDash val="solid"/>
          </a:ln>
        </p:spPr>
      </p:sp>
      <p:sp>
        <p:nvSpPr>
          <p:cNvPr id="7" name="Text 5"/>
          <p:cNvSpPr/>
          <p:nvPr/>
        </p:nvSpPr>
        <p:spPr>
          <a:xfrm>
            <a:off x="731520" y="1920240"/>
            <a:ext cx="2064258" cy="548640"/>
          </a:xfrm>
          <a:prstGeom prst="rect">
            <a:avLst/>
          </a:prstGeom>
          <a:noFill/>
          <a:ln/>
        </p:spPr>
        <p:txBody>
          <a:bodyPr wrap="square" rtlCol="0" anchor="ctr"/>
          <a:lstStyle/>
          <a:p>
            <a:pPr marL="0" indent="0">
              <a:buNone/>
            </a:pPr>
            <a:r>
              <a:rPr lang="en-US" sz="2400" b="1" dirty="0">
                <a:solidFill>
                  <a:srgbClr val="4FA3FF"/>
                </a:solidFill>
                <a:latin typeface="Inter" pitchFamily="34" charset="0"/>
                <a:ea typeface="Inter" pitchFamily="34" charset="-122"/>
                <a:cs typeface="Inter" pitchFamily="34" charset="-120"/>
              </a:rPr>
              <a:t>01</a:t>
            </a:r>
            <a:endParaRPr lang="en-US" sz="2400" dirty="0"/>
          </a:p>
        </p:txBody>
      </p:sp>
      <p:sp>
        <p:nvSpPr>
          <p:cNvPr id="8" name="Text 6"/>
          <p:cNvSpPr/>
          <p:nvPr/>
        </p:nvSpPr>
        <p:spPr>
          <a:xfrm>
            <a:off x="731520" y="2560320"/>
            <a:ext cx="2064258" cy="731520"/>
          </a:xfrm>
          <a:prstGeom prst="rect">
            <a:avLst/>
          </a:prstGeom>
          <a:noFill/>
          <a:ln/>
        </p:spPr>
        <p:txBody>
          <a:bodyPr wrap="square" rtlCol="0" anchor="ctr"/>
          <a:lstStyle/>
          <a:p>
            <a:pPr marL="0" indent="0">
              <a:buNone/>
            </a:pPr>
            <a:r>
              <a:rPr lang="en-US" sz="1600" b="1" dirty="0">
                <a:solidFill>
                  <a:srgbClr val="F2F5F8"/>
                </a:solidFill>
                <a:latin typeface="Inter" pitchFamily="34" charset="0"/>
                <a:ea typeface="Inter" pitchFamily="34" charset="-122"/>
                <a:cs typeface="Inter" pitchFamily="34" charset="-120"/>
              </a:rPr>
              <a:t>Handle Missing Values</a:t>
            </a:r>
            <a:endParaRPr lang="en-US" sz="1600" dirty="0"/>
          </a:p>
        </p:txBody>
      </p:sp>
      <p:sp>
        <p:nvSpPr>
          <p:cNvPr id="9" name="Text 7"/>
          <p:cNvSpPr/>
          <p:nvPr/>
        </p:nvSpPr>
        <p:spPr>
          <a:xfrm>
            <a:off x="731520" y="3291840"/>
            <a:ext cx="2064258" cy="1828800"/>
          </a:xfrm>
          <a:prstGeom prst="rect">
            <a:avLst/>
          </a:prstGeom>
          <a:noFill/>
          <a:ln/>
        </p:spPr>
        <p:txBody>
          <a:bodyPr wrap="square" rtlCol="0" anchor="ctr"/>
          <a:lstStyle/>
          <a:p>
            <a:pPr marL="0" indent="0">
              <a:buNone/>
            </a:pPr>
            <a:r>
              <a:rPr lang="en-US" sz="1300" dirty="0">
                <a:solidFill>
                  <a:srgbClr val="A6B3BF"/>
                </a:solidFill>
                <a:latin typeface="Inter" pitchFamily="34" charset="0"/>
                <a:ea typeface="Inter" pitchFamily="34" charset="-122"/>
                <a:cs typeface="Inter" pitchFamily="34" charset="-120"/>
              </a:rPr>
              <a:t>Categorical features imputed with mode; numerical features (e.g., LoanAmount) filled with median.</a:t>
            </a:r>
            <a:endParaRPr lang="en-US" sz="1300" dirty="0"/>
          </a:p>
        </p:txBody>
      </p:sp>
      <p:sp>
        <p:nvSpPr>
          <p:cNvPr id="10" name="Shape 8"/>
          <p:cNvSpPr/>
          <p:nvPr/>
        </p:nvSpPr>
        <p:spPr>
          <a:xfrm>
            <a:off x="3344418" y="1645920"/>
            <a:ext cx="2612898" cy="3840480"/>
          </a:xfrm>
          <a:prstGeom prst="roundRect">
            <a:avLst>
              <a:gd name="adj" fmla="val 3500"/>
            </a:avLst>
          </a:prstGeom>
          <a:solidFill>
            <a:srgbClr val="11253A"/>
          </a:solidFill>
          <a:ln w="12700">
            <a:solidFill>
              <a:srgbClr val="11253A"/>
            </a:solidFill>
            <a:prstDash val="solid"/>
          </a:ln>
        </p:spPr>
      </p:sp>
      <p:sp>
        <p:nvSpPr>
          <p:cNvPr id="11" name="Text 9"/>
          <p:cNvSpPr/>
          <p:nvPr/>
        </p:nvSpPr>
        <p:spPr>
          <a:xfrm>
            <a:off x="3618738" y="1920240"/>
            <a:ext cx="2064258" cy="548640"/>
          </a:xfrm>
          <a:prstGeom prst="rect">
            <a:avLst/>
          </a:prstGeom>
          <a:noFill/>
          <a:ln/>
        </p:spPr>
        <p:txBody>
          <a:bodyPr wrap="square" rtlCol="0" anchor="ctr"/>
          <a:lstStyle/>
          <a:p>
            <a:pPr marL="0" indent="0">
              <a:buNone/>
            </a:pPr>
            <a:r>
              <a:rPr lang="en-US" sz="2400" b="1" dirty="0">
                <a:solidFill>
                  <a:srgbClr val="4FA3FF"/>
                </a:solidFill>
                <a:latin typeface="Inter" pitchFamily="34" charset="0"/>
                <a:ea typeface="Inter" pitchFamily="34" charset="-122"/>
                <a:cs typeface="Inter" pitchFamily="34" charset="-120"/>
              </a:rPr>
              <a:t>02</a:t>
            </a:r>
            <a:endParaRPr lang="en-US" sz="2400" dirty="0"/>
          </a:p>
        </p:txBody>
      </p:sp>
      <p:sp>
        <p:nvSpPr>
          <p:cNvPr id="12" name="Text 10"/>
          <p:cNvSpPr/>
          <p:nvPr/>
        </p:nvSpPr>
        <p:spPr>
          <a:xfrm>
            <a:off x="3618738" y="2560320"/>
            <a:ext cx="2064258" cy="731520"/>
          </a:xfrm>
          <a:prstGeom prst="rect">
            <a:avLst/>
          </a:prstGeom>
          <a:noFill/>
          <a:ln/>
        </p:spPr>
        <p:txBody>
          <a:bodyPr wrap="square" rtlCol="0" anchor="ctr"/>
          <a:lstStyle/>
          <a:p>
            <a:pPr marL="0" indent="0">
              <a:buNone/>
            </a:pPr>
            <a:r>
              <a:rPr lang="en-US" sz="1600" b="1" dirty="0">
                <a:solidFill>
                  <a:srgbClr val="F2F5F8"/>
                </a:solidFill>
                <a:latin typeface="Inter" pitchFamily="34" charset="0"/>
                <a:ea typeface="Inter" pitchFamily="34" charset="-122"/>
                <a:cs typeface="Inter" pitchFamily="34" charset="-120"/>
              </a:rPr>
              <a:t>Feature Encoding</a:t>
            </a:r>
            <a:endParaRPr lang="en-US" sz="1600" dirty="0"/>
          </a:p>
        </p:txBody>
      </p:sp>
      <p:sp>
        <p:nvSpPr>
          <p:cNvPr id="13" name="Text 11"/>
          <p:cNvSpPr/>
          <p:nvPr/>
        </p:nvSpPr>
        <p:spPr>
          <a:xfrm>
            <a:off x="3618738" y="3291840"/>
            <a:ext cx="2064258" cy="1828800"/>
          </a:xfrm>
          <a:prstGeom prst="rect">
            <a:avLst/>
          </a:prstGeom>
          <a:noFill/>
          <a:ln/>
        </p:spPr>
        <p:txBody>
          <a:bodyPr wrap="square" rtlCol="0" anchor="ctr"/>
          <a:lstStyle/>
          <a:p>
            <a:pPr marL="0" indent="0">
              <a:buNone/>
            </a:pPr>
            <a:r>
              <a:rPr lang="en-US" sz="1300" dirty="0">
                <a:solidFill>
                  <a:srgbClr val="A6B3BF"/>
                </a:solidFill>
                <a:latin typeface="Inter" pitchFamily="34" charset="0"/>
                <a:ea typeface="Inter" pitchFamily="34" charset="-122"/>
                <a:cs typeface="Inter" pitchFamily="34" charset="-120"/>
              </a:rPr>
              <a:t>Binary features (Gender, Married, Education, Self_Employed) mapped to 0/1.</a:t>
            </a:r>
            <a:endParaRPr lang="en-US" sz="1300" dirty="0"/>
          </a:p>
        </p:txBody>
      </p:sp>
      <p:sp>
        <p:nvSpPr>
          <p:cNvPr id="14" name="Shape 12"/>
          <p:cNvSpPr/>
          <p:nvPr/>
        </p:nvSpPr>
        <p:spPr>
          <a:xfrm>
            <a:off x="6231636" y="1645920"/>
            <a:ext cx="2612898" cy="3840480"/>
          </a:xfrm>
          <a:prstGeom prst="roundRect">
            <a:avLst>
              <a:gd name="adj" fmla="val 3500"/>
            </a:avLst>
          </a:prstGeom>
          <a:solidFill>
            <a:srgbClr val="11253A"/>
          </a:solidFill>
          <a:ln w="12700">
            <a:solidFill>
              <a:srgbClr val="11253A"/>
            </a:solidFill>
            <a:prstDash val="solid"/>
          </a:ln>
        </p:spPr>
      </p:sp>
      <p:sp>
        <p:nvSpPr>
          <p:cNvPr id="15" name="Text 13"/>
          <p:cNvSpPr/>
          <p:nvPr/>
        </p:nvSpPr>
        <p:spPr>
          <a:xfrm>
            <a:off x="6505956" y="1920240"/>
            <a:ext cx="2064258" cy="548640"/>
          </a:xfrm>
          <a:prstGeom prst="rect">
            <a:avLst/>
          </a:prstGeom>
          <a:noFill/>
          <a:ln/>
        </p:spPr>
        <p:txBody>
          <a:bodyPr wrap="square" rtlCol="0" anchor="ctr"/>
          <a:lstStyle/>
          <a:p>
            <a:pPr marL="0" indent="0">
              <a:buNone/>
            </a:pPr>
            <a:r>
              <a:rPr lang="en-US" sz="2400" b="1" dirty="0">
                <a:solidFill>
                  <a:srgbClr val="4FA3FF"/>
                </a:solidFill>
                <a:latin typeface="Inter" pitchFamily="34" charset="0"/>
                <a:ea typeface="Inter" pitchFamily="34" charset="-122"/>
                <a:cs typeface="Inter" pitchFamily="34" charset="-120"/>
              </a:rPr>
              <a:t>03</a:t>
            </a:r>
            <a:endParaRPr lang="en-US" sz="2400" dirty="0"/>
          </a:p>
        </p:txBody>
      </p:sp>
      <p:sp>
        <p:nvSpPr>
          <p:cNvPr id="16" name="Text 14"/>
          <p:cNvSpPr/>
          <p:nvPr/>
        </p:nvSpPr>
        <p:spPr>
          <a:xfrm>
            <a:off x="6505956" y="2560320"/>
            <a:ext cx="2064258" cy="731520"/>
          </a:xfrm>
          <a:prstGeom prst="rect">
            <a:avLst/>
          </a:prstGeom>
          <a:noFill/>
          <a:ln/>
        </p:spPr>
        <p:txBody>
          <a:bodyPr wrap="square" rtlCol="0" anchor="ctr"/>
          <a:lstStyle/>
          <a:p>
            <a:pPr marL="0" indent="0">
              <a:buNone/>
            </a:pPr>
            <a:r>
              <a:rPr lang="en-US" sz="1600" b="1" dirty="0">
                <a:solidFill>
                  <a:srgbClr val="F2F5F8"/>
                </a:solidFill>
                <a:latin typeface="Inter" pitchFamily="34" charset="0"/>
                <a:ea typeface="Inter" pitchFamily="34" charset="-122"/>
                <a:cs typeface="Inter" pitchFamily="34" charset="-120"/>
              </a:rPr>
              <a:t>Categorical Transformation</a:t>
            </a:r>
            <a:endParaRPr lang="en-US" sz="1600" dirty="0"/>
          </a:p>
        </p:txBody>
      </p:sp>
      <p:sp>
        <p:nvSpPr>
          <p:cNvPr id="17" name="Text 15"/>
          <p:cNvSpPr/>
          <p:nvPr/>
        </p:nvSpPr>
        <p:spPr>
          <a:xfrm>
            <a:off x="6505956" y="3291840"/>
            <a:ext cx="2064258" cy="1828800"/>
          </a:xfrm>
          <a:prstGeom prst="rect">
            <a:avLst/>
          </a:prstGeom>
          <a:noFill/>
          <a:ln/>
        </p:spPr>
        <p:txBody>
          <a:bodyPr wrap="square" rtlCol="0" anchor="ctr"/>
          <a:lstStyle/>
          <a:p>
            <a:pPr marL="0" indent="0">
              <a:buNone/>
            </a:pPr>
            <a:r>
              <a:rPr lang="en-US" sz="1300" dirty="0">
                <a:solidFill>
                  <a:srgbClr val="A6B3BF"/>
                </a:solidFill>
                <a:latin typeface="Inter" pitchFamily="34" charset="0"/>
                <a:ea typeface="Inter" pitchFamily="34" charset="-122"/>
                <a:cs typeface="Inter" pitchFamily="34" charset="-120"/>
              </a:rPr>
              <a:t>Ordinal Dependents column mapped ('3+' to numeric); Property_Area one-hot encoded.</a:t>
            </a:r>
            <a:endParaRPr lang="en-US" sz="1300" dirty="0"/>
          </a:p>
        </p:txBody>
      </p:sp>
      <p:sp>
        <p:nvSpPr>
          <p:cNvPr id="18" name="Shape 16"/>
          <p:cNvSpPr/>
          <p:nvPr/>
        </p:nvSpPr>
        <p:spPr>
          <a:xfrm>
            <a:off x="9118854" y="1645920"/>
            <a:ext cx="2612898" cy="3840480"/>
          </a:xfrm>
          <a:prstGeom prst="roundRect">
            <a:avLst>
              <a:gd name="adj" fmla="val 3500"/>
            </a:avLst>
          </a:prstGeom>
          <a:solidFill>
            <a:srgbClr val="11253A"/>
          </a:solidFill>
          <a:ln w="12700">
            <a:solidFill>
              <a:srgbClr val="11253A"/>
            </a:solidFill>
            <a:prstDash val="solid"/>
          </a:ln>
        </p:spPr>
      </p:sp>
      <p:sp>
        <p:nvSpPr>
          <p:cNvPr id="19" name="Text 17"/>
          <p:cNvSpPr/>
          <p:nvPr/>
        </p:nvSpPr>
        <p:spPr>
          <a:xfrm>
            <a:off x="9393174" y="1920240"/>
            <a:ext cx="2064258" cy="548640"/>
          </a:xfrm>
          <a:prstGeom prst="rect">
            <a:avLst/>
          </a:prstGeom>
          <a:noFill/>
          <a:ln/>
        </p:spPr>
        <p:txBody>
          <a:bodyPr wrap="square" rtlCol="0" anchor="ctr"/>
          <a:lstStyle/>
          <a:p>
            <a:pPr marL="0" indent="0">
              <a:buNone/>
            </a:pPr>
            <a:r>
              <a:rPr lang="en-US" sz="2400" b="1" dirty="0">
                <a:solidFill>
                  <a:srgbClr val="4FA3FF"/>
                </a:solidFill>
                <a:latin typeface="Inter" pitchFamily="34" charset="0"/>
                <a:ea typeface="Inter" pitchFamily="34" charset="-122"/>
                <a:cs typeface="Inter" pitchFamily="34" charset="-120"/>
              </a:rPr>
              <a:t>04</a:t>
            </a:r>
            <a:endParaRPr lang="en-US" sz="2400" dirty="0"/>
          </a:p>
        </p:txBody>
      </p:sp>
      <p:sp>
        <p:nvSpPr>
          <p:cNvPr id="20" name="Text 18"/>
          <p:cNvSpPr/>
          <p:nvPr/>
        </p:nvSpPr>
        <p:spPr>
          <a:xfrm>
            <a:off x="9393174" y="2560320"/>
            <a:ext cx="2064258" cy="731520"/>
          </a:xfrm>
          <a:prstGeom prst="rect">
            <a:avLst/>
          </a:prstGeom>
          <a:noFill/>
          <a:ln/>
        </p:spPr>
        <p:txBody>
          <a:bodyPr wrap="square" rtlCol="0" anchor="ctr"/>
          <a:lstStyle/>
          <a:p>
            <a:pPr marL="0" indent="0">
              <a:buNone/>
            </a:pPr>
            <a:r>
              <a:rPr lang="en-US" sz="1600" b="1" dirty="0">
                <a:solidFill>
                  <a:srgbClr val="F2F5F8"/>
                </a:solidFill>
                <a:latin typeface="Inter" pitchFamily="34" charset="0"/>
                <a:ea typeface="Inter" pitchFamily="34" charset="-122"/>
                <a:cs typeface="Inter" pitchFamily="34" charset="-120"/>
              </a:rPr>
              <a:t>Data Hygiene</a:t>
            </a:r>
            <a:endParaRPr lang="en-US" sz="1600" dirty="0"/>
          </a:p>
        </p:txBody>
      </p:sp>
      <p:sp>
        <p:nvSpPr>
          <p:cNvPr id="21" name="Text 19"/>
          <p:cNvSpPr/>
          <p:nvPr/>
        </p:nvSpPr>
        <p:spPr>
          <a:xfrm>
            <a:off x="9393174" y="3291840"/>
            <a:ext cx="2064258" cy="1828800"/>
          </a:xfrm>
          <a:prstGeom prst="rect">
            <a:avLst/>
          </a:prstGeom>
          <a:noFill/>
          <a:ln/>
        </p:spPr>
        <p:txBody>
          <a:bodyPr wrap="square" rtlCol="0" anchor="ctr"/>
          <a:lstStyle/>
          <a:p>
            <a:pPr marL="0" indent="0">
              <a:buNone/>
            </a:pPr>
            <a:r>
              <a:rPr lang="en-US" sz="1300" dirty="0">
                <a:solidFill>
                  <a:srgbClr val="A6B3BF"/>
                </a:solidFill>
                <a:latin typeface="Inter" pitchFamily="34" charset="0"/>
                <a:ea typeface="Inter" pitchFamily="34" charset="-122"/>
                <a:cs typeface="Inter" pitchFamily="34" charset="-120"/>
              </a:rPr>
              <a:t>Dropped unique identifiers (Loan_ID) to prevent data leakage and overfitting.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11091672" y="6446520"/>
            <a:ext cx="914400" cy="274320"/>
          </a:xfrm>
          <a:prstGeom prst="rect">
            <a:avLst/>
          </a:prstGeom>
          <a:noFill/>
          <a:ln/>
        </p:spPr>
        <p:txBody>
          <a:bodyPr wrap="square" rtlCol="0" anchor="ctr"/>
          <a:lstStyle/>
          <a:p>
            <a:pPr marL="0" indent="0" algn="r">
              <a:buNone/>
            </a:pPr>
            <a:r>
              <a:rPr lang="en-US" sz="900" dirty="0">
                <a:solidFill>
                  <a:srgbClr val="A6B3BF"/>
                </a:solidFill>
                <a:latin typeface="Inter" pitchFamily="34" charset="0"/>
                <a:ea typeface="Inter" pitchFamily="34" charset="-122"/>
                <a:cs typeface="Inter" pitchFamily="34" charset="-120"/>
              </a:rPr>
              <a:t>4 / 9</a:t>
            </a:r>
            <a:endParaRPr lang="en-US" sz="900" dirty="0"/>
          </a:p>
        </p:txBody>
      </p:sp>
      <p:sp>
        <p:nvSpPr>
          <p:cNvPr id="4" name="Text 2"/>
          <p:cNvSpPr/>
          <p:nvPr/>
        </p:nvSpPr>
        <p:spPr>
          <a:xfrm>
            <a:off x="457200" y="457200"/>
            <a:ext cx="11274552" cy="822960"/>
          </a:xfrm>
          <a:prstGeom prst="rect">
            <a:avLst/>
          </a:prstGeom>
          <a:noFill/>
          <a:ln/>
        </p:spPr>
        <p:txBody>
          <a:bodyPr wrap="square" rtlCol="0" anchor="ctr"/>
          <a:lstStyle/>
          <a:p>
            <a:pPr marL="0" indent="0">
              <a:buNone/>
            </a:pPr>
            <a:r>
              <a:rPr lang="en-US" sz="3000" b="1" dirty="0">
                <a:solidFill>
                  <a:srgbClr val="F2F5F8"/>
                </a:solidFill>
                <a:latin typeface="Inter" pitchFamily="34" charset="0"/>
                <a:ea typeface="Inter" pitchFamily="34" charset="-122"/>
                <a:cs typeface="Inter" pitchFamily="34" charset="-120"/>
              </a:rPr>
              <a:t>Machine Learning Pipeline</a:t>
            </a:r>
            <a:endParaRPr lang="en-US" sz="3000" dirty="0"/>
          </a:p>
        </p:txBody>
      </p:sp>
      <p:sp>
        <p:nvSpPr>
          <p:cNvPr id="5" name="Shape 3"/>
          <p:cNvSpPr/>
          <p:nvPr/>
        </p:nvSpPr>
        <p:spPr>
          <a:xfrm>
            <a:off x="457200" y="1207008"/>
            <a:ext cx="548640" cy="73152"/>
          </a:xfrm>
          <a:prstGeom prst="rect">
            <a:avLst/>
          </a:prstGeom>
          <a:solidFill>
            <a:srgbClr val="4FA3FF"/>
          </a:solidFill>
          <a:ln w="12700">
            <a:solidFill>
              <a:srgbClr val="4FA3FF"/>
            </a:solidFill>
            <a:prstDash val="solid"/>
          </a:ln>
        </p:spPr>
      </p:sp>
      <p:sp>
        <p:nvSpPr>
          <p:cNvPr id="6" name="Shape 4"/>
          <p:cNvSpPr/>
          <p:nvPr/>
        </p:nvSpPr>
        <p:spPr>
          <a:xfrm>
            <a:off x="457200" y="1645920"/>
            <a:ext cx="2612898" cy="3840480"/>
          </a:xfrm>
          <a:prstGeom prst="roundRect">
            <a:avLst>
              <a:gd name="adj" fmla="val 3500"/>
            </a:avLst>
          </a:prstGeom>
          <a:solidFill>
            <a:srgbClr val="11253A"/>
          </a:solidFill>
          <a:ln w="12700">
            <a:solidFill>
              <a:srgbClr val="11253A"/>
            </a:solidFill>
            <a:prstDash val="solid"/>
          </a:ln>
        </p:spPr>
      </p:sp>
      <p:sp>
        <p:nvSpPr>
          <p:cNvPr id="7" name="Text 5"/>
          <p:cNvSpPr/>
          <p:nvPr/>
        </p:nvSpPr>
        <p:spPr>
          <a:xfrm>
            <a:off x="731520" y="1920240"/>
            <a:ext cx="2064258" cy="548640"/>
          </a:xfrm>
          <a:prstGeom prst="rect">
            <a:avLst/>
          </a:prstGeom>
          <a:noFill/>
          <a:ln/>
        </p:spPr>
        <p:txBody>
          <a:bodyPr wrap="square" rtlCol="0" anchor="ctr"/>
          <a:lstStyle/>
          <a:p>
            <a:pPr marL="0" indent="0">
              <a:buNone/>
            </a:pPr>
            <a:r>
              <a:rPr lang="en-US" sz="2400" b="1" dirty="0">
                <a:solidFill>
                  <a:srgbClr val="4FA3FF"/>
                </a:solidFill>
                <a:latin typeface="Inter" pitchFamily="34" charset="0"/>
                <a:ea typeface="Inter" pitchFamily="34" charset="-122"/>
                <a:cs typeface="Inter" pitchFamily="34" charset="-120"/>
              </a:rPr>
              <a:t>01</a:t>
            </a:r>
            <a:endParaRPr lang="en-US" sz="2400" dirty="0"/>
          </a:p>
        </p:txBody>
      </p:sp>
      <p:sp>
        <p:nvSpPr>
          <p:cNvPr id="8" name="Text 6"/>
          <p:cNvSpPr/>
          <p:nvPr/>
        </p:nvSpPr>
        <p:spPr>
          <a:xfrm>
            <a:off x="731520" y="2560320"/>
            <a:ext cx="2064258" cy="731520"/>
          </a:xfrm>
          <a:prstGeom prst="rect">
            <a:avLst/>
          </a:prstGeom>
          <a:noFill/>
          <a:ln/>
        </p:spPr>
        <p:txBody>
          <a:bodyPr wrap="square" rtlCol="0" anchor="ctr"/>
          <a:lstStyle/>
          <a:p>
            <a:pPr marL="0" indent="0">
              <a:buNone/>
            </a:pPr>
            <a:r>
              <a:rPr lang="en-US" sz="1600" b="1" dirty="0">
                <a:solidFill>
                  <a:srgbClr val="F2F5F8"/>
                </a:solidFill>
                <a:latin typeface="Inter" pitchFamily="34" charset="0"/>
                <a:ea typeface="Inter" pitchFamily="34" charset="-122"/>
                <a:cs typeface="Inter" pitchFamily="34" charset="-120"/>
              </a:rPr>
              <a:t>Train-Test Split</a:t>
            </a:r>
            <a:endParaRPr lang="en-US" sz="1600" dirty="0"/>
          </a:p>
        </p:txBody>
      </p:sp>
      <p:sp>
        <p:nvSpPr>
          <p:cNvPr id="9" name="Text 7"/>
          <p:cNvSpPr/>
          <p:nvPr/>
        </p:nvSpPr>
        <p:spPr>
          <a:xfrm>
            <a:off x="731520" y="3291840"/>
            <a:ext cx="2064258" cy="1828800"/>
          </a:xfrm>
          <a:prstGeom prst="rect">
            <a:avLst/>
          </a:prstGeom>
          <a:noFill/>
          <a:ln/>
        </p:spPr>
        <p:txBody>
          <a:bodyPr wrap="square" rtlCol="0" anchor="ctr"/>
          <a:lstStyle/>
          <a:p>
            <a:pPr marL="0" indent="0">
              <a:buNone/>
            </a:pPr>
            <a:r>
              <a:rPr lang="en-US" sz="1300" dirty="0">
                <a:solidFill>
                  <a:srgbClr val="A6B3BF"/>
                </a:solidFill>
                <a:latin typeface="Inter" pitchFamily="34" charset="0"/>
                <a:ea typeface="Inter" pitchFamily="34" charset="-122"/>
                <a:cs typeface="Inter" pitchFamily="34" charset="-120"/>
              </a:rPr>
              <a:t>Dataset partitioned into 80-20 train-test split with stratification for class balance.</a:t>
            </a:r>
            <a:endParaRPr lang="en-US" sz="1300" dirty="0"/>
          </a:p>
        </p:txBody>
      </p:sp>
      <p:sp>
        <p:nvSpPr>
          <p:cNvPr id="10" name="Shape 8"/>
          <p:cNvSpPr/>
          <p:nvPr/>
        </p:nvSpPr>
        <p:spPr>
          <a:xfrm>
            <a:off x="3344418" y="1645920"/>
            <a:ext cx="2612898" cy="3840480"/>
          </a:xfrm>
          <a:prstGeom prst="roundRect">
            <a:avLst>
              <a:gd name="adj" fmla="val 3500"/>
            </a:avLst>
          </a:prstGeom>
          <a:solidFill>
            <a:srgbClr val="11253A"/>
          </a:solidFill>
          <a:ln w="12700">
            <a:solidFill>
              <a:srgbClr val="11253A"/>
            </a:solidFill>
            <a:prstDash val="solid"/>
          </a:ln>
        </p:spPr>
      </p:sp>
      <p:sp>
        <p:nvSpPr>
          <p:cNvPr id="11" name="Text 9"/>
          <p:cNvSpPr/>
          <p:nvPr/>
        </p:nvSpPr>
        <p:spPr>
          <a:xfrm>
            <a:off x="3618738" y="1920240"/>
            <a:ext cx="2064258" cy="548640"/>
          </a:xfrm>
          <a:prstGeom prst="rect">
            <a:avLst/>
          </a:prstGeom>
          <a:noFill/>
          <a:ln/>
        </p:spPr>
        <p:txBody>
          <a:bodyPr wrap="square" rtlCol="0" anchor="ctr"/>
          <a:lstStyle/>
          <a:p>
            <a:pPr marL="0" indent="0">
              <a:buNone/>
            </a:pPr>
            <a:r>
              <a:rPr lang="en-US" sz="2400" b="1" dirty="0">
                <a:solidFill>
                  <a:srgbClr val="4FA3FF"/>
                </a:solidFill>
                <a:latin typeface="Inter" pitchFamily="34" charset="0"/>
                <a:ea typeface="Inter" pitchFamily="34" charset="-122"/>
                <a:cs typeface="Inter" pitchFamily="34" charset="-120"/>
              </a:rPr>
              <a:t>02</a:t>
            </a:r>
            <a:endParaRPr lang="en-US" sz="2400" dirty="0"/>
          </a:p>
        </p:txBody>
      </p:sp>
      <p:sp>
        <p:nvSpPr>
          <p:cNvPr id="12" name="Text 10"/>
          <p:cNvSpPr/>
          <p:nvPr/>
        </p:nvSpPr>
        <p:spPr>
          <a:xfrm>
            <a:off x="3618738" y="2560320"/>
            <a:ext cx="2064258" cy="731520"/>
          </a:xfrm>
          <a:prstGeom prst="rect">
            <a:avLst/>
          </a:prstGeom>
          <a:noFill/>
          <a:ln/>
        </p:spPr>
        <p:txBody>
          <a:bodyPr wrap="square" rtlCol="0" anchor="ctr"/>
          <a:lstStyle/>
          <a:p>
            <a:pPr marL="0" indent="0">
              <a:buNone/>
            </a:pPr>
            <a:r>
              <a:rPr lang="en-US" sz="1600" b="1" dirty="0">
                <a:solidFill>
                  <a:srgbClr val="F2F5F8"/>
                </a:solidFill>
                <a:latin typeface="Inter" pitchFamily="34" charset="0"/>
                <a:ea typeface="Inter" pitchFamily="34" charset="-122"/>
                <a:cs typeface="Inter" pitchFamily="34" charset="-120"/>
              </a:rPr>
              <a:t>Algorithm Selection</a:t>
            </a:r>
            <a:endParaRPr lang="en-US" sz="1600" dirty="0"/>
          </a:p>
        </p:txBody>
      </p:sp>
      <p:sp>
        <p:nvSpPr>
          <p:cNvPr id="13" name="Text 11"/>
          <p:cNvSpPr/>
          <p:nvPr/>
        </p:nvSpPr>
        <p:spPr>
          <a:xfrm>
            <a:off x="3618738" y="3291840"/>
            <a:ext cx="2064258" cy="1828800"/>
          </a:xfrm>
          <a:prstGeom prst="rect">
            <a:avLst/>
          </a:prstGeom>
          <a:noFill/>
          <a:ln/>
        </p:spPr>
        <p:txBody>
          <a:bodyPr wrap="square" rtlCol="0" anchor="ctr"/>
          <a:lstStyle/>
          <a:p>
            <a:pPr marL="0" indent="0">
              <a:buNone/>
            </a:pPr>
            <a:r>
              <a:rPr lang="en-US" sz="1300" dirty="0">
                <a:solidFill>
                  <a:srgbClr val="A6B3BF"/>
                </a:solidFill>
                <a:latin typeface="Inter" pitchFamily="34" charset="0"/>
                <a:ea typeface="Inter" pitchFamily="34" charset="-122"/>
                <a:cs typeface="Inter" pitchFamily="34" charset="-120"/>
              </a:rPr>
              <a:t>Random Forest Classifier chosen with 100 estimators.</a:t>
            </a:r>
            <a:endParaRPr lang="en-US" sz="1300" dirty="0"/>
          </a:p>
        </p:txBody>
      </p:sp>
      <p:sp>
        <p:nvSpPr>
          <p:cNvPr id="14" name="Shape 12"/>
          <p:cNvSpPr/>
          <p:nvPr/>
        </p:nvSpPr>
        <p:spPr>
          <a:xfrm>
            <a:off x="6231636" y="1645920"/>
            <a:ext cx="2612898" cy="3840480"/>
          </a:xfrm>
          <a:prstGeom prst="roundRect">
            <a:avLst>
              <a:gd name="adj" fmla="val 3500"/>
            </a:avLst>
          </a:prstGeom>
          <a:solidFill>
            <a:srgbClr val="11253A"/>
          </a:solidFill>
          <a:ln w="12700">
            <a:solidFill>
              <a:srgbClr val="11253A"/>
            </a:solidFill>
            <a:prstDash val="solid"/>
          </a:ln>
        </p:spPr>
      </p:sp>
      <p:sp>
        <p:nvSpPr>
          <p:cNvPr id="15" name="Text 13"/>
          <p:cNvSpPr/>
          <p:nvPr/>
        </p:nvSpPr>
        <p:spPr>
          <a:xfrm>
            <a:off x="6505956" y="1920240"/>
            <a:ext cx="2064258" cy="548640"/>
          </a:xfrm>
          <a:prstGeom prst="rect">
            <a:avLst/>
          </a:prstGeom>
          <a:noFill/>
          <a:ln/>
        </p:spPr>
        <p:txBody>
          <a:bodyPr wrap="square" rtlCol="0" anchor="ctr"/>
          <a:lstStyle/>
          <a:p>
            <a:pPr marL="0" indent="0">
              <a:buNone/>
            </a:pPr>
            <a:r>
              <a:rPr lang="en-US" sz="2400" b="1" dirty="0">
                <a:solidFill>
                  <a:srgbClr val="4FA3FF"/>
                </a:solidFill>
                <a:latin typeface="Inter" pitchFamily="34" charset="0"/>
                <a:ea typeface="Inter" pitchFamily="34" charset="-122"/>
                <a:cs typeface="Inter" pitchFamily="34" charset="-120"/>
              </a:rPr>
              <a:t>03</a:t>
            </a:r>
            <a:endParaRPr lang="en-US" sz="2400" dirty="0"/>
          </a:p>
        </p:txBody>
      </p:sp>
      <p:sp>
        <p:nvSpPr>
          <p:cNvPr id="16" name="Text 14"/>
          <p:cNvSpPr/>
          <p:nvPr/>
        </p:nvSpPr>
        <p:spPr>
          <a:xfrm>
            <a:off x="6505956" y="2560320"/>
            <a:ext cx="2064258" cy="731520"/>
          </a:xfrm>
          <a:prstGeom prst="rect">
            <a:avLst/>
          </a:prstGeom>
          <a:noFill/>
          <a:ln/>
        </p:spPr>
        <p:txBody>
          <a:bodyPr wrap="square" rtlCol="0" anchor="ctr"/>
          <a:lstStyle/>
          <a:p>
            <a:pPr marL="0" indent="0">
              <a:buNone/>
            </a:pPr>
            <a:r>
              <a:rPr lang="en-US" sz="1600" b="1" dirty="0">
                <a:solidFill>
                  <a:srgbClr val="F2F5F8"/>
                </a:solidFill>
                <a:latin typeface="Inter" pitchFamily="34" charset="0"/>
                <a:ea typeface="Inter" pitchFamily="34" charset="-122"/>
                <a:cs typeface="Inter" pitchFamily="34" charset="-120"/>
              </a:rPr>
              <a:t>Model Training</a:t>
            </a:r>
            <a:endParaRPr lang="en-US" sz="1600" dirty="0"/>
          </a:p>
        </p:txBody>
      </p:sp>
      <p:sp>
        <p:nvSpPr>
          <p:cNvPr id="17" name="Text 15"/>
          <p:cNvSpPr/>
          <p:nvPr/>
        </p:nvSpPr>
        <p:spPr>
          <a:xfrm>
            <a:off x="6505956" y="3291840"/>
            <a:ext cx="2064258" cy="1828800"/>
          </a:xfrm>
          <a:prstGeom prst="rect">
            <a:avLst/>
          </a:prstGeom>
          <a:noFill/>
          <a:ln/>
        </p:spPr>
        <p:txBody>
          <a:bodyPr wrap="square" rtlCol="0" anchor="ctr"/>
          <a:lstStyle/>
          <a:p>
            <a:pPr marL="0" indent="0">
              <a:buNone/>
            </a:pPr>
            <a:r>
              <a:rPr lang="en-US" sz="1300" dirty="0">
                <a:solidFill>
                  <a:srgbClr val="A6B3BF"/>
                </a:solidFill>
                <a:latin typeface="Inter" pitchFamily="34" charset="0"/>
                <a:ea typeface="Inter" pitchFamily="34" charset="-122"/>
                <a:cs typeface="Inter" pitchFamily="34" charset="-120"/>
              </a:rPr>
              <a:t>Random Forest model trained on the preprocessed training data.</a:t>
            </a:r>
            <a:endParaRPr lang="en-US" sz="1300" dirty="0"/>
          </a:p>
        </p:txBody>
      </p:sp>
      <p:sp>
        <p:nvSpPr>
          <p:cNvPr id="18" name="Shape 16"/>
          <p:cNvSpPr/>
          <p:nvPr/>
        </p:nvSpPr>
        <p:spPr>
          <a:xfrm>
            <a:off x="9118854" y="1645920"/>
            <a:ext cx="2612898" cy="3840480"/>
          </a:xfrm>
          <a:prstGeom prst="roundRect">
            <a:avLst>
              <a:gd name="adj" fmla="val 3500"/>
            </a:avLst>
          </a:prstGeom>
          <a:solidFill>
            <a:srgbClr val="11253A"/>
          </a:solidFill>
          <a:ln w="12700">
            <a:solidFill>
              <a:srgbClr val="11253A"/>
            </a:solidFill>
            <a:prstDash val="solid"/>
          </a:ln>
        </p:spPr>
      </p:sp>
      <p:sp>
        <p:nvSpPr>
          <p:cNvPr id="19" name="Text 17"/>
          <p:cNvSpPr/>
          <p:nvPr/>
        </p:nvSpPr>
        <p:spPr>
          <a:xfrm>
            <a:off x="9393174" y="1920240"/>
            <a:ext cx="2064258" cy="548640"/>
          </a:xfrm>
          <a:prstGeom prst="rect">
            <a:avLst/>
          </a:prstGeom>
          <a:noFill/>
          <a:ln/>
        </p:spPr>
        <p:txBody>
          <a:bodyPr wrap="square" rtlCol="0" anchor="ctr"/>
          <a:lstStyle/>
          <a:p>
            <a:pPr marL="0" indent="0">
              <a:buNone/>
            </a:pPr>
            <a:r>
              <a:rPr lang="en-US" sz="2400" b="1" dirty="0">
                <a:solidFill>
                  <a:srgbClr val="4FA3FF"/>
                </a:solidFill>
                <a:latin typeface="Inter" pitchFamily="34" charset="0"/>
                <a:ea typeface="Inter" pitchFamily="34" charset="-122"/>
                <a:cs typeface="Inter" pitchFamily="34" charset="-120"/>
              </a:rPr>
              <a:t>04</a:t>
            </a:r>
            <a:endParaRPr lang="en-US" sz="2400" dirty="0"/>
          </a:p>
        </p:txBody>
      </p:sp>
      <p:sp>
        <p:nvSpPr>
          <p:cNvPr id="20" name="Text 18"/>
          <p:cNvSpPr/>
          <p:nvPr/>
        </p:nvSpPr>
        <p:spPr>
          <a:xfrm>
            <a:off x="9393174" y="2560320"/>
            <a:ext cx="2064258" cy="731520"/>
          </a:xfrm>
          <a:prstGeom prst="rect">
            <a:avLst/>
          </a:prstGeom>
          <a:noFill/>
          <a:ln/>
        </p:spPr>
        <p:txBody>
          <a:bodyPr wrap="square" rtlCol="0" anchor="ctr"/>
          <a:lstStyle/>
          <a:p>
            <a:pPr marL="0" indent="0">
              <a:buNone/>
            </a:pPr>
            <a:r>
              <a:rPr lang="en-US" sz="1600" b="1" dirty="0">
                <a:solidFill>
                  <a:srgbClr val="F2F5F8"/>
                </a:solidFill>
                <a:latin typeface="Inter" pitchFamily="34" charset="0"/>
                <a:ea typeface="Inter" pitchFamily="34" charset="-122"/>
                <a:cs typeface="Inter" pitchFamily="34" charset="-120"/>
              </a:rPr>
              <a:t>Prediction Generation</a:t>
            </a:r>
            <a:endParaRPr lang="en-US" sz="1600" dirty="0"/>
          </a:p>
        </p:txBody>
      </p:sp>
      <p:sp>
        <p:nvSpPr>
          <p:cNvPr id="21" name="Text 19"/>
          <p:cNvSpPr/>
          <p:nvPr/>
        </p:nvSpPr>
        <p:spPr>
          <a:xfrm>
            <a:off x="9393174" y="3291840"/>
            <a:ext cx="2064258" cy="1828800"/>
          </a:xfrm>
          <a:prstGeom prst="rect">
            <a:avLst/>
          </a:prstGeom>
          <a:noFill/>
          <a:ln/>
        </p:spPr>
        <p:txBody>
          <a:bodyPr wrap="square" rtlCol="0" anchor="ctr"/>
          <a:lstStyle/>
          <a:p>
            <a:pPr marL="0" indent="0">
              <a:buNone/>
            </a:pPr>
            <a:r>
              <a:rPr lang="en-US" sz="1300" dirty="0">
                <a:solidFill>
                  <a:srgbClr val="A6B3BF"/>
                </a:solidFill>
                <a:latin typeface="Inter" pitchFamily="34" charset="0"/>
                <a:ea typeface="Inter" pitchFamily="34" charset="-122"/>
                <a:cs typeface="Inter" pitchFamily="34" charset="-120"/>
              </a:rPr>
              <a:t>Model used to predict loan outcomes on the unseen test dataset.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11091672" y="6446520"/>
            <a:ext cx="914400" cy="274320"/>
          </a:xfrm>
          <a:prstGeom prst="rect">
            <a:avLst/>
          </a:prstGeom>
          <a:noFill/>
          <a:ln/>
        </p:spPr>
        <p:txBody>
          <a:bodyPr wrap="square" rtlCol="0" anchor="ctr"/>
          <a:lstStyle/>
          <a:p>
            <a:pPr marL="0" indent="0" algn="r">
              <a:buNone/>
            </a:pPr>
            <a:r>
              <a:rPr lang="en-US" sz="900" dirty="0">
                <a:solidFill>
                  <a:srgbClr val="A6B3BF"/>
                </a:solidFill>
                <a:latin typeface="Inter" pitchFamily="34" charset="0"/>
                <a:ea typeface="Inter" pitchFamily="34" charset="-122"/>
                <a:cs typeface="Inter" pitchFamily="34" charset="-120"/>
              </a:rPr>
              <a:t>5 / 9</a:t>
            </a:r>
            <a:endParaRPr lang="en-US" sz="900" dirty="0"/>
          </a:p>
        </p:txBody>
      </p:sp>
      <p:sp>
        <p:nvSpPr>
          <p:cNvPr id="4" name="Text 2"/>
          <p:cNvSpPr/>
          <p:nvPr/>
        </p:nvSpPr>
        <p:spPr>
          <a:xfrm>
            <a:off x="457200" y="457200"/>
            <a:ext cx="11274552" cy="822960"/>
          </a:xfrm>
          <a:prstGeom prst="rect">
            <a:avLst/>
          </a:prstGeom>
          <a:noFill/>
          <a:ln/>
        </p:spPr>
        <p:txBody>
          <a:bodyPr wrap="square" rtlCol="0" anchor="ctr"/>
          <a:lstStyle/>
          <a:p>
            <a:pPr marL="0" indent="0">
              <a:buNone/>
            </a:pPr>
            <a:r>
              <a:rPr lang="en-US" sz="3000" b="1" dirty="0">
                <a:solidFill>
                  <a:srgbClr val="F2F5F8"/>
                </a:solidFill>
                <a:latin typeface="Inter" pitchFamily="34" charset="0"/>
                <a:ea typeface="Inter" pitchFamily="34" charset="-122"/>
                <a:cs typeface="Inter" pitchFamily="34" charset="-120"/>
              </a:rPr>
              <a:t>Key Model Performance Metrics</a:t>
            </a:r>
            <a:endParaRPr lang="en-US" sz="3000" dirty="0"/>
          </a:p>
        </p:txBody>
      </p:sp>
      <p:sp>
        <p:nvSpPr>
          <p:cNvPr id="5" name="Shape 3"/>
          <p:cNvSpPr/>
          <p:nvPr/>
        </p:nvSpPr>
        <p:spPr>
          <a:xfrm>
            <a:off x="457200" y="1207008"/>
            <a:ext cx="548640" cy="73152"/>
          </a:xfrm>
          <a:prstGeom prst="rect">
            <a:avLst/>
          </a:prstGeom>
          <a:solidFill>
            <a:srgbClr val="4FA3FF"/>
          </a:solidFill>
          <a:ln w="12700">
            <a:solidFill>
              <a:srgbClr val="4FA3FF"/>
            </a:solidFill>
            <a:prstDash val="solid"/>
          </a:ln>
        </p:spPr>
      </p:sp>
      <p:sp>
        <p:nvSpPr>
          <p:cNvPr id="6" name="Shape 4"/>
          <p:cNvSpPr/>
          <p:nvPr/>
        </p:nvSpPr>
        <p:spPr>
          <a:xfrm>
            <a:off x="457200" y="1645920"/>
            <a:ext cx="2612898" cy="3840480"/>
          </a:xfrm>
          <a:prstGeom prst="roundRect">
            <a:avLst>
              <a:gd name="adj" fmla="val 3500"/>
            </a:avLst>
          </a:prstGeom>
          <a:solidFill>
            <a:srgbClr val="11253A"/>
          </a:solidFill>
          <a:ln w="12700">
            <a:solidFill>
              <a:srgbClr val="11253A"/>
            </a:solidFill>
            <a:prstDash val="solid"/>
          </a:ln>
        </p:spPr>
      </p:sp>
      <p:sp>
        <p:nvSpPr>
          <p:cNvPr id="7" name="Text 5"/>
          <p:cNvSpPr/>
          <p:nvPr/>
        </p:nvSpPr>
        <p:spPr>
          <a:xfrm>
            <a:off x="457200" y="2560320"/>
            <a:ext cx="2612898" cy="1097280"/>
          </a:xfrm>
          <a:prstGeom prst="rect">
            <a:avLst/>
          </a:prstGeom>
          <a:noFill/>
          <a:ln/>
        </p:spPr>
        <p:txBody>
          <a:bodyPr wrap="square" rtlCol="0" anchor="ctr"/>
          <a:lstStyle/>
          <a:p>
            <a:pPr marL="0" indent="0" algn="ctr">
              <a:buNone/>
            </a:pPr>
            <a:r>
              <a:rPr lang="en-US" sz="3600" b="1" dirty="0">
                <a:solidFill>
                  <a:srgbClr val="4FA3FF"/>
                </a:solidFill>
                <a:latin typeface="Inter" pitchFamily="34" charset="0"/>
                <a:ea typeface="Inter" pitchFamily="34" charset="-122"/>
                <a:cs typeface="Inter" pitchFamily="34" charset="-120"/>
              </a:rPr>
              <a:t>82.11%</a:t>
            </a:r>
            <a:endParaRPr lang="en-US" sz="3600" dirty="0"/>
          </a:p>
        </p:txBody>
      </p:sp>
      <p:sp>
        <p:nvSpPr>
          <p:cNvPr id="8" name="Text 6"/>
          <p:cNvSpPr/>
          <p:nvPr/>
        </p:nvSpPr>
        <p:spPr>
          <a:xfrm>
            <a:off x="640080" y="3749040"/>
            <a:ext cx="2247138" cy="1097280"/>
          </a:xfrm>
          <a:prstGeom prst="rect">
            <a:avLst/>
          </a:prstGeom>
          <a:noFill/>
          <a:ln/>
        </p:spPr>
        <p:txBody>
          <a:bodyPr wrap="square" rtlCol="0" anchor="ctr"/>
          <a:lstStyle/>
          <a:p>
            <a:pPr marL="0" indent="0" algn="ctr">
              <a:buNone/>
            </a:pPr>
            <a:r>
              <a:rPr lang="en-US" sz="1400" dirty="0">
                <a:solidFill>
                  <a:srgbClr val="A6B3BF"/>
                </a:solidFill>
                <a:latin typeface="Inter" pitchFamily="34" charset="0"/>
                <a:ea typeface="Inter" pitchFamily="34" charset="-122"/>
                <a:cs typeface="Inter" pitchFamily="34" charset="-120"/>
              </a:rPr>
              <a:t>Overall Accuracy</a:t>
            </a:r>
            <a:endParaRPr lang="en-US" sz="1400" dirty="0"/>
          </a:p>
        </p:txBody>
      </p:sp>
      <p:sp>
        <p:nvSpPr>
          <p:cNvPr id="9" name="Shape 7"/>
          <p:cNvSpPr/>
          <p:nvPr/>
        </p:nvSpPr>
        <p:spPr>
          <a:xfrm>
            <a:off x="3344418" y="1645920"/>
            <a:ext cx="2612898" cy="3840480"/>
          </a:xfrm>
          <a:prstGeom prst="roundRect">
            <a:avLst>
              <a:gd name="adj" fmla="val 3500"/>
            </a:avLst>
          </a:prstGeom>
          <a:solidFill>
            <a:srgbClr val="11253A"/>
          </a:solidFill>
          <a:ln w="12700">
            <a:solidFill>
              <a:srgbClr val="11253A"/>
            </a:solidFill>
            <a:prstDash val="solid"/>
          </a:ln>
        </p:spPr>
      </p:sp>
      <p:sp>
        <p:nvSpPr>
          <p:cNvPr id="10" name="Text 8"/>
          <p:cNvSpPr/>
          <p:nvPr/>
        </p:nvSpPr>
        <p:spPr>
          <a:xfrm>
            <a:off x="3344418" y="2560320"/>
            <a:ext cx="2612898" cy="1097280"/>
          </a:xfrm>
          <a:prstGeom prst="rect">
            <a:avLst/>
          </a:prstGeom>
          <a:noFill/>
          <a:ln/>
        </p:spPr>
        <p:txBody>
          <a:bodyPr wrap="square" rtlCol="0" anchor="ctr"/>
          <a:lstStyle/>
          <a:p>
            <a:pPr marL="0" indent="0" algn="ctr">
              <a:buNone/>
            </a:pPr>
            <a:r>
              <a:rPr lang="en-US" sz="3600" b="1" dirty="0">
                <a:solidFill>
                  <a:srgbClr val="4FA3FF"/>
                </a:solidFill>
                <a:latin typeface="Inter" pitchFamily="34" charset="0"/>
                <a:ea typeface="Inter" pitchFamily="34" charset="-122"/>
                <a:cs typeface="Inter" pitchFamily="34" charset="-120"/>
              </a:rPr>
              <a:t>0.84</a:t>
            </a:r>
            <a:endParaRPr lang="en-US" sz="3600" dirty="0"/>
          </a:p>
        </p:txBody>
      </p:sp>
      <p:sp>
        <p:nvSpPr>
          <p:cNvPr id="11" name="Text 9"/>
          <p:cNvSpPr/>
          <p:nvPr/>
        </p:nvSpPr>
        <p:spPr>
          <a:xfrm>
            <a:off x="3527298" y="3749040"/>
            <a:ext cx="2247138" cy="1097280"/>
          </a:xfrm>
          <a:prstGeom prst="rect">
            <a:avLst/>
          </a:prstGeom>
          <a:noFill/>
          <a:ln/>
        </p:spPr>
        <p:txBody>
          <a:bodyPr wrap="square" rtlCol="0" anchor="ctr"/>
          <a:lstStyle/>
          <a:p>
            <a:pPr marL="0" indent="0" algn="ctr">
              <a:buNone/>
            </a:pPr>
            <a:r>
              <a:rPr lang="en-US" sz="1400" dirty="0">
                <a:solidFill>
                  <a:srgbClr val="A6B3BF"/>
                </a:solidFill>
                <a:latin typeface="Inter" pitchFamily="34" charset="0"/>
                <a:ea typeface="Inter" pitchFamily="34" charset="-122"/>
                <a:cs typeface="Inter" pitchFamily="34" charset="-120"/>
              </a:rPr>
              <a:t>Approved Precision</a:t>
            </a:r>
            <a:endParaRPr lang="en-US" sz="1400" dirty="0"/>
          </a:p>
        </p:txBody>
      </p:sp>
      <p:sp>
        <p:nvSpPr>
          <p:cNvPr id="12" name="Shape 10"/>
          <p:cNvSpPr/>
          <p:nvPr/>
        </p:nvSpPr>
        <p:spPr>
          <a:xfrm>
            <a:off x="6231636" y="1645920"/>
            <a:ext cx="2612898" cy="3840480"/>
          </a:xfrm>
          <a:prstGeom prst="roundRect">
            <a:avLst>
              <a:gd name="adj" fmla="val 3500"/>
            </a:avLst>
          </a:prstGeom>
          <a:solidFill>
            <a:srgbClr val="11253A"/>
          </a:solidFill>
          <a:ln w="12700">
            <a:solidFill>
              <a:srgbClr val="11253A"/>
            </a:solidFill>
            <a:prstDash val="solid"/>
          </a:ln>
        </p:spPr>
      </p:sp>
      <p:sp>
        <p:nvSpPr>
          <p:cNvPr id="13" name="Text 11"/>
          <p:cNvSpPr/>
          <p:nvPr/>
        </p:nvSpPr>
        <p:spPr>
          <a:xfrm>
            <a:off x="6231636" y="2560320"/>
            <a:ext cx="2612898" cy="1097280"/>
          </a:xfrm>
          <a:prstGeom prst="rect">
            <a:avLst/>
          </a:prstGeom>
          <a:noFill/>
          <a:ln/>
        </p:spPr>
        <p:txBody>
          <a:bodyPr wrap="square" rtlCol="0" anchor="ctr"/>
          <a:lstStyle/>
          <a:p>
            <a:pPr marL="0" indent="0" algn="ctr">
              <a:buNone/>
            </a:pPr>
            <a:r>
              <a:rPr lang="en-US" sz="3600" b="1" dirty="0">
                <a:solidFill>
                  <a:srgbClr val="4FA3FF"/>
                </a:solidFill>
                <a:latin typeface="Inter" pitchFamily="34" charset="0"/>
                <a:ea typeface="Inter" pitchFamily="34" charset="-122"/>
                <a:cs typeface="Inter" pitchFamily="34" charset="-120"/>
              </a:rPr>
              <a:t>0.92</a:t>
            </a:r>
            <a:endParaRPr lang="en-US" sz="3600" dirty="0"/>
          </a:p>
        </p:txBody>
      </p:sp>
      <p:sp>
        <p:nvSpPr>
          <p:cNvPr id="14" name="Text 12"/>
          <p:cNvSpPr/>
          <p:nvPr/>
        </p:nvSpPr>
        <p:spPr>
          <a:xfrm>
            <a:off x="6414516" y="3749040"/>
            <a:ext cx="2247138" cy="1097280"/>
          </a:xfrm>
          <a:prstGeom prst="rect">
            <a:avLst/>
          </a:prstGeom>
          <a:noFill/>
          <a:ln/>
        </p:spPr>
        <p:txBody>
          <a:bodyPr wrap="square" rtlCol="0" anchor="ctr"/>
          <a:lstStyle/>
          <a:p>
            <a:pPr marL="0" indent="0" algn="ctr">
              <a:buNone/>
            </a:pPr>
            <a:r>
              <a:rPr lang="en-US" sz="1400" dirty="0">
                <a:solidFill>
                  <a:srgbClr val="A6B3BF"/>
                </a:solidFill>
                <a:latin typeface="Inter" pitchFamily="34" charset="0"/>
                <a:ea typeface="Inter" pitchFamily="34" charset="-122"/>
                <a:cs typeface="Inter" pitchFamily="34" charset="-120"/>
              </a:rPr>
              <a:t>Approved Recall</a:t>
            </a:r>
            <a:endParaRPr lang="en-US" sz="1400" dirty="0"/>
          </a:p>
        </p:txBody>
      </p:sp>
      <p:sp>
        <p:nvSpPr>
          <p:cNvPr id="15" name="Shape 13"/>
          <p:cNvSpPr/>
          <p:nvPr/>
        </p:nvSpPr>
        <p:spPr>
          <a:xfrm>
            <a:off x="9118854" y="1645920"/>
            <a:ext cx="2612898" cy="3840480"/>
          </a:xfrm>
          <a:prstGeom prst="roundRect">
            <a:avLst>
              <a:gd name="adj" fmla="val 3500"/>
            </a:avLst>
          </a:prstGeom>
          <a:solidFill>
            <a:srgbClr val="11253A"/>
          </a:solidFill>
          <a:ln w="12700">
            <a:solidFill>
              <a:srgbClr val="11253A"/>
            </a:solidFill>
            <a:prstDash val="solid"/>
          </a:ln>
        </p:spPr>
      </p:sp>
      <p:sp>
        <p:nvSpPr>
          <p:cNvPr id="16" name="Text 14"/>
          <p:cNvSpPr/>
          <p:nvPr/>
        </p:nvSpPr>
        <p:spPr>
          <a:xfrm>
            <a:off x="9118854" y="2560320"/>
            <a:ext cx="2612898" cy="1097280"/>
          </a:xfrm>
          <a:prstGeom prst="rect">
            <a:avLst/>
          </a:prstGeom>
          <a:noFill/>
          <a:ln/>
        </p:spPr>
        <p:txBody>
          <a:bodyPr wrap="square" rtlCol="0" anchor="ctr"/>
          <a:lstStyle/>
          <a:p>
            <a:pPr marL="0" indent="0" algn="ctr">
              <a:buNone/>
            </a:pPr>
            <a:r>
              <a:rPr lang="en-US" sz="3600" b="1" dirty="0">
                <a:solidFill>
                  <a:srgbClr val="4FA3FF"/>
                </a:solidFill>
                <a:latin typeface="Inter" pitchFamily="34" charset="0"/>
                <a:ea typeface="Inter" pitchFamily="34" charset="-122"/>
                <a:cs typeface="Inter" pitchFamily="34" charset="-120"/>
              </a:rPr>
              <a:t>0.77</a:t>
            </a:r>
            <a:endParaRPr lang="en-US" sz="3600" dirty="0"/>
          </a:p>
        </p:txBody>
      </p:sp>
      <p:sp>
        <p:nvSpPr>
          <p:cNvPr id="17" name="Text 15"/>
          <p:cNvSpPr/>
          <p:nvPr/>
        </p:nvSpPr>
        <p:spPr>
          <a:xfrm>
            <a:off x="9301734" y="3749040"/>
            <a:ext cx="2247138" cy="1097280"/>
          </a:xfrm>
          <a:prstGeom prst="rect">
            <a:avLst/>
          </a:prstGeom>
          <a:noFill/>
          <a:ln/>
        </p:spPr>
        <p:txBody>
          <a:bodyPr wrap="square" rtlCol="0" anchor="ctr"/>
          <a:lstStyle/>
          <a:p>
            <a:pPr marL="0" indent="0" algn="ctr">
              <a:buNone/>
            </a:pPr>
            <a:r>
              <a:rPr lang="en-US" sz="1400" dirty="0">
                <a:solidFill>
                  <a:srgbClr val="A6B3BF"/>
                </a:solidFill>
                <a:latin typeface="Inter" pitchFamily="34" charset="0"/>
                <a:ea typeface="Inter" pitchFamily="34" charset="-122"/>
                <a:cs typeface="Inter" pitchFamily="34" charset="-120"/>
              </a:rPr>
              <a:t>Rejected Precision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11091672" y="6446520"/>
            <a:ext cx="914400" cy="274320"/>
          </a:xfrm>
          <a:prstGeom prst="rect">
            <a:avLst/>
          </a:prstGeom>
          <a:noFill/>
          <a:ln/>
        </p:spPr>
        <p:txBody>
          <a:bodyPr wrap="square" rtlCol="0" anchor="ctr"/>
          <a:lstStyle/>
          <a:p>
            <a:pPr marL="0" indent="0" algn="r">
              <a:buNone/>
            </a:pPr>
            <a:r>
              <a:rPr lang="en-US" sz="900" dirty="0">
                <a:solidFill>
                  <a:srgbClr val="A6B3BF"/>
                </a:solidFill>
                <a:latin typeface="Inter" pitchFamily="34" charset="0"/>
                <a:ea typeface="Inter" pitchFamily="34" charset="-122"/>
                <a:cs typeface="Inter" pitchFamily="34" charset="-120"/>
              </a:rPr>
              <a:t>6 / 9</a:t>
            </a:r>
            <a:endParaRPr lang="en-US" sz="900" dirty="0"/>
          </a:p>
        </p:txBody>
      </p:sp>
      <p:sp>
        <p:nvSpPr>
          <p:cNvPr id="4" name="Text 2"/>
          <p:cNvSpPr/>
          <p:nvPr/>
        </p:nvSpPr>
        <p:spPr>
          <a:xfrm>
            <a:off x="457200" y="457200"/>
            <a:ext cx="11274552" cy="822960"/>
          </a:xfrm>
          <a:prstGeom prst="rect">
            <a:avLst/>
          </a:prstGeom>
          <a:noFill/>
          <a:ln/>
        </p:spPr>
        <p:txBody>
          <a:bodyPr wrap="square" rtlCol="0" anchor="ctr"/>
          <a:lstStyle/>
          <a:p>
            <a:pPr marL="0" indent="0">
              <a:buNone/>
            </a:pPr>
            <a:r>
              <a:rPr lang="en-US" sz="3000" b="1" dirty="0">
                <a:solidFill>
                  <a:srgbClr val="F2F5F8"/>
                </a:solidFill>
                <a:latin typeface="Inter" pitchFamily="34" charset="0"/>
                <a:ea typeface="Inter" pitchFamily="34" charset="-122"/>
                <a:cs typeface="Inter" pitchFamily="34" charset="-120"/>
              </a:rPr>
              <a:t>Confusion Matrix Breakdown</a:t>
            </a:r>
            <a:endParaRPr lang="en-US" sz="3000" dirty="0"/>
          </a:p>
        </p:txBody>
      </p:sp>
      <p:sp>
        <p:nvSpPr>
          <p:cNvPr id="5" name="Shape 3"/>
          <p:cNvSpPr/>
          <p:nvPr/>
        </p:nvSpPr>
        <p:spPr>
          <a:xfrm>
            <a:off x="457200" y="1207008"/>
            <a:ext cx="548640" cy="73152"/>
          </a:xfrm>
          <a:prstGeom prst="rect">
            <a:avLst/>
          </a:prstGeom>
          <a:solidFill>
            <a:srgbClr val="4FA3FF"/>
          </a:solidFill>
          <a:ln w="12700">
            <a:solidFill>
              <a:srgbClr val="4FA3FF"/>
            </a:solidFill>
            <a:prstDash val="solid"/>
          </a:ln>
        </p:spPr>
      </p:sp>
      <p:graphicFrame>
        <p:nvGraphicFramePr>
          <p:cNvPr id="6" name="Chart 0"/>
          <p:cNvGraphicFramePr/>
          <p:nvPr/>
        </p:nvGraphicFramePr>
        <p:xfrm>
          <a:off x="731520" y="1645920"/>
          <a:ext cx="10725912" cy="41148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11091672" y="6446520"/>
            <a:ext cx="914400" cy="274320"/>
          </a:xfrm>
          <a:prstGeom prst="rect">
            <a:avLst/>
          </a:prstGeom>
          <a:noFill/>
          <a:ln/>
        </p:spPr>
        <p:txBody>
          <a:bodyPr wrap="square" rtlCol="0" anchor="ctr"/>
          <a:lstStyle/>
          <a:p>
            <a:pPr marL="0" indent="0" algn="r">
              <a:buNone/>
            </a:pPr>
            <a:r>
              <a:rPr lang="en-US" sz="900" dirty="0">
                <a:solidFill>
                  <a:srgbClr val="A6B3BF"/>
                </a:solidFill>
                <a:latin typeface="Inter" pitchFamily="34" charset="0"/>
                <a:ea typeface="Inter" pitchFamily="34" charset="-122"/>
                <a:cs typeface="Inter" pitchFamily="34" charset="-120"/>
              </a:rPr>
              <a:t>7 / 9</a:t>
            </a:r>
            <a:endParaRPr lang="en-US" sz="900" dirty="0"/>
          </a:p>
        </p:txBody>
      </p:sp>
      <p:sp>
        <p:nvSpPr>
          <p:cNvPr id="4" name="Text 2"/>
          <p:cNvSpPr/>
          <p:nvPr/>
        </p:nvSpPr>
        <p:spPr>
          <a:xfrm>
            <a:off x="457200" y="457200"/>
            <a:ext cx="11274552" cy="822960"/>
          </a:xfrm>
          <a:prstGeom prst="rect">
            <a:avLst/>
          </a:prstGeom>
          <a:noFill/>
          <a:ln/>
        </p:spPr>
        <p:txBody>
          <a:bodyPr wrap="square" rtlCol="0" anchor="ctr"/>
          <a:lstStyle/>
          <a:p>
            <a:pPr marL="0" indent="0">
              <a:buNone/>
            </a:pPr>
            <a:r>
              <a:rPr lang="en-US" sz="3000" b="1" dirty="0">
                <a:solidFill>
                  <a:srgbClr val="F2F5F8"/>
                </a:solidFill>
                <a:latin typeface="Inter" pitchFamily="34" charset="0"/>
                <a:ea typeface="Inter" pitchFamily="34" charset="-122"/>
                <a:cs typeface="Inter" pitchFamily="34" charset="-120"/>
              </a:rPr>
              <a:t>Live Prediction Demo</a:t>
            </a:r>
            <a:endParaRPr lang="en-US" sz="3000" dirty="0"/>
          </a:p>
        </p:txBody>
      </p:sp>
      <p:sp>
        <p:nvSpPr>
          <p:cNvPr id="5" name="Shape 3"/>
          <p:cNvSpPr/>
          <p:nvPr/>
        </p:nvSpPr>
        <p:spPr>
          <a:xfrm>
            <a:off x="457200" y="1207008"/>
            <a:ext cx="548640" cy="73152"/>
          </a:xfrm>
          <a:prstGeom prst="rect">
            <a:avLst/>
          </a:prstGeom>
          <a:solidFill>
            <a:srgbClr val="4FA3FF"/>
          </a:solidFill>
          <a:ln w="12700">
            <a:solidFill>
              <a:srgbClr val="4FA3FF"/>
            </a:solidFill>
            <a:prstDash val="solid"/>
          </a:ln>
        </p:spPr>
      </p:sp>
      <p:sp>
        <p:nvSpPr>
          <p:cNvPr id="6" name="Shape 4"/>
          <p:cNvSpPr/>
          <p:nvPr/>
        </p:nvSpPr>
        <p:spPr>
          <a:xfrm>
            <a:off x="548640" y="1554480"/>
            <a:ext cx="5362956" cy="4389120"/>
          </a:xfrm>
          <a:prstGeom prst="roundRect">
            <a:avLst>
              <a:gd name="adj" fmla="val 2500"/>
            </a:avLst>
          </a:prstGeom>
          <a:solidFill>
            <a:srgbClr val="11253A"/>
          </a:solidFill>
          <a:ln w="12700">
            <a:solidFill>
              <a:srgbClr val="11253A"/>
            </a:solidFill>
            <a:prstDash val="solid"/>
          </a:ln>
        </p:spPr>
      </p:sp>
      <p:sp>
        <p:nvSpPr>
          <p:cNvPr id="7" name="Text 5"/>
          <p:cNvSpPr/>
          <p:nvPr/>
        </p:nvSpPr>
        <p:spPr>
          <a:xfrm>
            <a:off x="777240" y="1737360"/>
            <a:ext cx="4997196" cy="4023360"/>
          </a:xfrm>
          <a:prstGeom prst="rect">
            <a:avLst/>
          </a:prstGeom>
          <a:noFill/>
          <a:ln/>
        </p:spPr>
        <p:txBody>
          <a:bodyPr wrap="square" rtlCol="0" anchor="t"/>
          <a:lstStyle/>
          <a:p>
            <a:pPr marL="342900" indent="-342900">
              <a:spcAft>
                <a:spcPts val="800"/>
              </a:spcAft>
              <a:buSzPct val="100000"/>
              <a:buChar char="●"/>
            </a:pPr>
            <a:r>
              <a:rPr lang="en-US" sz="1800" dirty="0">
                <a:solidFill>
                  <a:srgbClr val="F2F5F8"/>
                </a:solidFill>
                <a:latin typeface="Inter" pitchFamily="34" charset="0"/>
                <a:ea typeface="Inter" pitchFamily="34" charset="-122"/>
                <a:cs typeface="Inter" pitchFamily="34" charset="-120"/>
              </a:rPr>
              <a:t>Demographics: Male, Married, 0 Dependents, Graduate, Non-Self-Employed, Urban Property.</a:t>
            </a:r>
            <a:endParaRPr lang="en-US" sz="1800" dirty="0"/>
          </a:p>
          <a:p>
            <a:pPr marL="342900" indent="-342900">
              <a:spcAft>
                <a:spcPts val="800"/>
              </a:spcAft>
              <a:buSzPct val="100000"/>
              <a:buChar char="●"/>
            </a:pPr>
            <a:r>
              <a:rPr lang="en-US" sz="1800" dirty="0">
                <a:solidFill>
                  <a:srgbClr val="F2F5F8"/>
                </a:solidFill>
                <a:latin typeface="Inter" pitchFamily="34" charset="0"/>
                <a:ea typeface="Inter" pitchFamily="34" charset="-122"/>
                <a:cs typeface="Inter" pitchFamily="34" charset="-120"/>
              </a:rPr>
              <a:t>Financials: Applicant Income: $5,000; Coapplicant Income: $2,000; Loan Amount: $140k.</a:t>
            </a:r>
            <a:endParaRPr lang="en-US" sz="1800" dirty="0"/>
          </a:p>
          <a:p>
            <a:pPr marL="342900" indent="-342900">
              <a:spcAft>
                <a:spcPts val="800"/>
              </a:spcAft>
              <a:buSzPct val="100000"/>
              <a:buChar char="●"/>
            </a:pPr>
            <a:r>
              <a:rPr lang="en-US" sz="1800" dirty="0">
                <a:solidFill>
                  <a:srgbClr val="F2F5F8"/>
                </a:solidFill>
                <a:latin typeface="Inter" pitchFamily="34" charset="0"/>
                <a:ea typeface="Inter" pitchFamily="34" charset="-122"/>
                <a:cs typeface="Inter" pitchFamily="34" charset="-120"/>
              </a:rPr>
              <a:t>Credit Profile: Good Credit History (1.0).</a:t>
            </a:r>
            <a:endParaRPr lang="en-US" sz="1800" dirty="0"/>
          </a:p>
        </p:txBody>
      </p:sp>
      <p:sp>
        <p:nvSpPr>
          <p:cNvPr id="8" name="Shape 6"/>
          <p:cNvSpPr/>
          <p:nvPr/>
        </p:nvSpPr>
        <p:spPr>
          <a:xfrm>
            <a:off x="6277356" y="1554480"/>
            <a:ext cx="5362956" cy="4389120"/>
          </a:xfrm>
          <a:prstGeom prst="roundRect">
            <a:avLst>
              <a:gd name="adj" fmla="val 2500"/>
            </a:avLst>
          </a:prstGeom>
          <a:solidFill>
            <a:srgbClr val="11253A"/>
          </a:solidFill>
          <a:ln w="12700">
            <a:solidFill>
              <a:srgbClr val="11253A"/>
            </a:solidFill>
            <a:prstDash val="solid"/>
          </a:ln>
        </p:spPr>
      </p:sp>
      <p:sp>
        <p:nvSpPr>
          <p:cNvPr id="9" name="Text 7"/>
          <p:cNvSpPr/>
          <p:nvPr/>
        </p:nvSpPr>
        <p:spPr>
          <a:xfrm>
            <a:off x="6505956" y="1737360"/>
            <a:ext cx="4997196" cy="4023360"/>
          </a:xfrm>
          <a:prstGeom prst="rect">
            <a:avLst/>
          </a:prstGeom>
          <a:noFill/>
          <a:ln/>
        </p:spPr>
        <p:txBody>
          <a:bodyPr wrap="square" rtlCol="0" anchor="t"/>
          <a:lstStyle/>
          <a:p>
            <a:pPr marL="342900" indent="-342900">
              <a:spcAft>
                <a:spcPts val="800"/>
              </a:spcAft>
              <a:buSzPct val="100000"/>
              <a:buChar char="●"/>
            </a:pPr>
            <a:r>
              <a:rPr lang="en-US" sz="1800" dirty="0">
                <a:solidFill>
                  <a:srgbClr val="F2F5F8"/>
                </a:solidFill>
                <a:latin typeface="Inter" pitchFamily="34" charset="0"/>
                <a:ea typeface="Inter" pitchFamily="34" charset="-122"/>
                <a:cs typeface="Inter" pitchFamily="34" charset="-120"/>
              </a:rPr>
              <a:t>Prediction: Loan Approved (Y)</a:t>
            </a:r>
            <a:endParaRPr lang="en-US" sz="1800" dirty="0"/>
          </a:p>
          <a:p>
            <a:pPr marL="342900" indent="-342900">
              <a:spcAft>
                <a:spcPts val="800"/>
              </a:spcAft>
              <a:buSzPct val="100000"/>
              <a:buChar char="●"/>
            </a:pPr>
            <a:r>
              <a:rPr lang="en-US" sz="1800" dirty="0">
                <a:solidFill>
                  <a:srgbClr val="F2F5F8"/>
                </a:solidFill>
                <a:latin typeface="Inter" pitchFamily="34" charset="0"/>
                <a:ea typeface="Inter" pitchFamily="34" charset="-122"/>
                <a:cs typeface="Inter" pitchFamily="34" charset="-120"/>
              </a:rPr>
              <a:t>Confidence Probability: Approved: 0.89</a:t>
            </a:r>
            <a:endParaRPr lang="en-US" sz="1800" dirty="0"/>
          </a:p>
          <a:p>
            <a:pPr marL="342900" indent="-342900">
              <a:spcAft>
                <a:spcPts val="800"/>
              </a:spcAft>
              <a:buSzPct val="100000"/>
              <a:buChar char="●"/>
            </a:pPr>
            <a:r>
              <a:rPr lang="en-US" sz="1800" dirty="0">
                <a:solidFill>
                  <a:srgbClr val="F2F5F8"/>
                </a:solidFill>
                <a:latin typeface="Inter" pitchFamily="34" charset="0"/>
                <a:ea typeface="Inter" pitchFamily="34" charset="-122"/>
                <a:cs typeface="Inter" pitchFamily="34" charset="-120"/>
              </a:rPr>
              <a:t>Confidence Probability: Rejected: 0.11</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11091672" y="6446520"/>
            <a:ext cx="914400" cy="274320"/>
          </a:xfrm>
          <a:prstGeom prst="rect">
            <a:avLst/>
          </a:prstGeom>
          <a:noFill/>
          <a:ln/>
        </p:spPr>
        <p:txBody>
          <a:bodyPr wrap="square" rtlCol="0" anchor="ctr"/>
          <a:lstStyle/>
          <a:p>
            <a:pPr marL="0" indent="0" algn="r">
              <a:buNone/>
            </a:pPr>
            <a:r>
              <a:rPr lang="en-US" sz="900" dirty="0">
                <a:solidFill>
                  <a:srgbClr val="A6B3BF"/>
                </a:solidFill>
                <a:latin typeface="Inter" pitchFamily="34" charset="0"/>
                <a:ea typeface="Inter" pitchFamily="34" charset="-122"/>
                <a:cs typeface="Inter" pitchFamily="34" charset="-120"/>
              </a:rPr>
              <a:t>8 / 9</a:t>
            </a:r>
            <a:endParaRPr lang="en-US" sz="900" dirty="0"/>
          </a:p>
        </p:txBody>
      </p:sp>
      <p:sp>
        <p:nvSpPr>
          <p:cNvPr id="4" name="Text 2"/>
          <p:cNvSpPr/>
          <p:nvPr/>
        </p:nvSpPr>
        <p:spPr>
          <a:xfrm>
            <a:off x="457200" y="457200"/>
            <a:ext cx="11274552" cy="822960"/>
          </a:xfrm>
          <a:prstGeom prst="rect">
            <a:avLst/>
          </a:prstGeom>
          <a:noFill/>
          <a:ln/>
        </p:spPr>
        <p:txBody>
          <a:bodyPr wrap="square" rtlCol="0" anchor="ctr"/>
          <a:lstStyle/>
          <a:p>
            <a:pPr marL="0" indent="0">
              <a:buNone/>
            </a:pPr>
            <a:r>
              <a:rPr lang="en-US" sz="3000" b="1" dirty="0">
                <a:solidFill>
                  <a:srgbClr val="F2F5F8"/>
                </a:solidFill>
                <a:latin typeface="Inter" pitchFamily="34" charset="0"/>
                <a:ea typeface="Inter" pitchFamily="34" charset="-122"/>
                <a:cs typeface="Inter" pitchFamily="34" charset="-120"/>
              </a:rPr>
              <a:t>Conclusion &amp; Next Steps</a:t>
            </a:r>
            <a:endParaRPr lang="en-US" sz="3000" dirty="0"/>
          </a:p>
        </p:txBody>
      </p:sp>
      <p:sp>
        <p:nvSpPr>
          <p:cNvPr id="5" name="Shape 3"/>
          <p:cNvSpPr/>
          <p:nvPr/>
        </p:nvSpPr>
        <p:spPr>
          <a:xfrm>
            <a:off x="457200" y="1207008"/>
            <a:ext cx="548640" cy="73152"/>
          </a:xfrm>
          <a:prstGeom prst="rect">
            <a:avLst/>
          </a:prstGeom>
          <a:solidFill>
            <a:srgbClr val="4FA3FF"/>
          </a:solidFill>
          <a:ln w="12700">
            <a:solidFill>
              <a:srgbClr val="4FA3FF"/>
            </a:solidFill>
            <a:prstDash val="solid"/>
          </a:ln>
        </p:spPr>
      </p:sp>
      <p:sp>
        <p:nvSpPr>
          <p:cNvPr id="6" name="Text 4"/>
          <p:cNvSpPr/>
          <p:nvPr/>
        </p:nvSpPr>
        <p:spPr>
          <a:xfrm>
            <a:off x="548640" y="1554480"/>
            <a:ext cx="11091672" cy="4480560"/>
          </a:xfrm>
          <a:prstGeom prst="rect">
            <a:avLst/>
          </a:prstGeom>
          <a:noFill/>
          <a:ln/>
        </p:spPr>
        <p:txBody>
          <a:bodyPr wrap="square" rtlCol="0" anchor="t"/>
          <a:lstStyle/>
          <a:p>
            <a:pPr marL="342900" indent="-342900">
              <a:spcAft>
                <a:spcPts val="1200"/>
              </a:spcAft>
              <a:buSzPct val="100000"/>
              <a:buChar char="●"/>
            </a:pPr>
            <a:r>
              <a:rPr lang="en-US" sz="2200" dirty="0">
                <a:solidFill>
                  <a:srgbClr val="F2F5F8"/>
                </a:solidFill>
                <a:latin typeface="Inter" pitchFamily="34" charset="0"/>
                <a:ea typeface="Inter" pitchFamily="34" charset="-122"/>
                <a:cs typeface="Inter" pitchFamily="34" charset="-120"/>
              </a:rPr>
              <a:t>Successfully engineered an end-to-end ML pipeline that automates loan eligibility with high reliability.</a:t>
            </a:r>
            <a:endParaRPr lang="en-US" sz="2200" dirty="0"/>
          </a:p>
          <a:p>
            <a:pPr marL="342900" indent="-342900">
              <a:spcAft>
                <a:spcPts val="1200"/>
              </a:spcAft>
              <a:buSzPct val="100000"/>
              <a:buChar char="●"/>
            </a:pPr>
            <a:r>
              <a:rPr lang="en-US" sz="2200" dirty="0">
                <a:solidFill>
                  <a:srgbClr val="F2F5F8"/>
                </a:solidFill>
                <a:latin typeface="Inter" pitchFamily="34" charset="0"/>
                <a:ea typeface="Inter" pitchFamily="34" charset="-122"/>
                <a:cs typeface="Inter" pitchFamily="34" charset="-120"/>
              </a:rPr>
              <a:t>Explore Grid Search / Random Search on max_depth and min_samples_split to push accuracy higher.</a:t>
            </a:r>
            <a:endParaRPr lang="en-US" sz="2200" dirty="0"/>
          </a:p>
          <a:p>
            <a:pPr marL="342900" indent="-342900">
              <a:spcAft>
                <a:spcPts val="1200"/>
              </a:spcAft>
              <a:buSzPct val="100000"/>
              <a:buChar char="●"/>
            </a:pPr>
            <a:r>
              <a:rPr lang="en-US" sz="2200" dirty="0">
                <a:solidFill>
                  <a:srgbClr val="F2F5F8"/>
                </a:solidFill>
                <a:latin typeface="Inter" pitchFamily="34" charset="0"/>
                <a:ea typeface="Inter" pitchFamily="34" charset="-122"/>
                <a:cs typeface="Inter" pitchFamily="34" charset="-120"/>
              </a:rPr>
              <a:t>Compare performance against advanced gradient boosting frameworks like XGBoost or LightGBM.</a:t>
            </a:r>
            <a:endParaRPr lang="en-US" sz="2200" dirty="0"/>
          </a:p>
          <a:p>
            <a:pPr marL="342900" indent="-342900">
              <a:spcAft>
                <a:spcPts val="1200"/>
              </a:spcAft>
              <a:buSzPct val="100000"/>
              <a:buChar char="●"/>
            </a:pPr>
            <a:r>
              <a:rPr lang="en-US" sz="2200" dirty="0">
                <a:solidFill>
                  <a:srgbClr val="F2F5F8"/>
                </a:solidFill>
                <a:latin typeface="Inter" pitchFamily="34" charset="0"/>
                <a:ea typeface="Inter" pitchFamily="34" charset="-122"/>
                <a:cs typeface="Inter" pitchFamily="34" charset="-120"/>
              </a:rPr>
              <a:t>Wrap the pipeline into an interactive web application using Streamlit or Flask for real-time bank teller use.</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11091672" y="6446520"/>
            <a:ext cx="914400" cy="274320"/>
          </a:xfrm>
          <a:prstGeom prst="rect">
            <a:avLst/>
          </a:prstGeom>
          <a:noFill/>
          <a:ln/>
        </p:spPr>
        <p:txBody>
          <a:bodyPr wrap="square" rtlCol="0" anchor="ctr"/>
          <a:lstStyle/>
          <a:p>
            <a:pPr marL="0" indent="0" algn="r">
              <a:buNone/>
            </a:pPr>
            <a:r>
              <a:rPr lang="en-US" sz="900" dirty="0">
                <a:solidFill>
                  <a:srgbClr val="A6B3BF"/>
                </a:solidFill>
                <a:latin typeface="Inter" pitchFamily="34" charset="0"/>
                <a:ea typeface="Inter" pitchFamily="34" charset="-122"/>
                <a:cs typeface="Inter" pitchFamily="34" charset="-120"/>
              </a:rPr>
              <a:t>9 / 9</a:t>
            </a:r>
            <a:endParaRPr lang="en-US" sz="900" dirty="0"/>
          </a:p>
        </p:txBody>
      </p:sp>
      <p:sp>
        <p:nvSpPr>
          <p:cNvPr id="4" name="Text 2"/>
          <p:cNvSpPr/>
          <p:nvPr/>
        </p:nvSpPr>
        <p:spPr>
          <a:xfrm>
            <a:off x="457200" y="2377440"/>
            <a:ext cx="11274552" cy="1463040"/>
          </a:xfrm>
          <a:prstGeom prst="rect">
            <a:avLst/>
          </a:prstGeom>
          <a:noFill/>
          <a:ln/>
        </p:spPr>
        <p:txBody>
          <a:bodyPr wrap="square" rtlCol="0" anchor="ctr"/>
          <a:lstStyle/>
          <a:p>
            <a:pPr marL="0" indent="0" algn="ctr">
              <a:buNone/>
            </a:pPr>
            <a:r>
              <a:rPr lang="en-US" sz="6000" b="1" dirty="0">
                <a:solidFill>
                  <a:srgbClr val="4FA3FF"/>
                </a:solidFill>
                <a:latin typeface="Inter" pitchFamily="34" charset="0"/>
                <a:ea typeface="Inter" pitchFamily="34" charset="-122"/>
                <a:cs typeface="Inter" pitchFamily="34" charset="-120"/>
              </a:rPr>
              <a:t>Thank You</a:t>
            </a:r>
            <a:endParaRPr lang="en-US" sz="6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581</Words>
  <Application>Microsoft Office PowerPoint</Application>
  <PresentationFormat>Widescreen</PresentationFormat>
  <Paragraphs>76</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Inter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SlideGen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Loan Approval Prediction System</dc:title>
  <dc:subject>PptxGenJS Presentation</dc:subject>
  <dc:creator>PptxGenJS</dc:creator>
  <cp:lastModifiedBy>Siddaradha Shayini</cp:lastModifiedBy>
  <cp:revision>2</cp:revision>
  <dcterms:created xsi:type="dcterms:W3CDTF">2026-09-19T08:00:58Z</dcterms:created>
  <dcterms:modified xsi:type="dcterms:W3CDTF">2026-09-19T08:02:37Z</dcterms:modified>
</cp:coreProperties>
</file>